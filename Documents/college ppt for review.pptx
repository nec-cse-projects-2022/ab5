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6"/>
  </p:notesMasterIdLst>
  <p:handoutMasterIdLst>
    <p:handoutMasterId r:id="rId27"/>
  </p:handoutMasterIdLst>
  <p:sldIdLst>
    <p:sldId id="281" r:id="rId2"/>
    <p:sldId id="260" r:id="rId3"/>
    <p:sldId id="262" r:id="rId4"/>
    <p:sldId id="279" r:id="rId5"/>
    <p:sldId id="263" r:id="rId6"/>
    <p:sldId id="285" r:id="rId7"/>
    <p:sldId id="265" r:id="rId8"/>
    <p:sldId id="270" r:id="rId9"/>
    <p:sldId id="266" r:id="rId10"/>
    <p:sldId id="269" r:id="rId11"/>
    <p:sldId id="283" r:id="rId12"/>
    <p:sldId id="284" r:id="rId13"/>
    <p:sldId id="287" r:id="rId14"/>
    <p:sldId id="288" r:id="rId15"/>
    <p:sldId id="292" r:id="rId16"/>
    <p:sldId id="289" r:id="rId17"/>
    <p:sldId id="301" r:id="rId18"/>
    <p:sldId id="291" r:id="rId19"/>
    <p:sldId id="302" r:id="rId20"/>
    <p:sldId id="296" r:id="rId21"/>
    <p:sldId id="303" r:id="rId22"/>
    <p:sldId id="297" r:id="rId23"/>
    <p:sldId id="298" r:id="rId24"/>
    <p:sldId id="28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255DF29-DB1C-4B76-B47B-65665E4DC278}">
          <p14:sldIdLst>
            <p14:sldId id="281"/>
            <p14:sldId id="260"/>
            <p14:sldId id="262"/>
            <p14:sldId id="279"/>
            <p14:sldId id="263"/>
            <p14:sldId id="285"/>
            <p14:sldId id="265"/>
            <p14:sldId id="270"/>
            <p14:sldId id="266"/>
            <p14:sldId id="269"/>
            <p14:sldId id="283"/>
            <p14:sldId id="284"/>
            <p14:sldId id="287"/>
            <p14:sldId id="288"/>
            <p14:sldId id="292"/>
            <p14:sldId id="289"/>
            <p14:sldId id="301"/>
            <p14:sldId id="291"/>
          </p14:sldIdLst>
        </p14:section>
        <p14:section name="Untitled Section" id="{2B2B7F9B-F4E1-4690-9214-79A76E0B2195}">
          <p14:sldIdLst>
            <p14:sldId id="302"/>
            <p14:sldId id="296"/>
            <p14:sldId id="303"/>
            <p14:sldId id="297"/>
            <p14:sldId id="298"/>
            <p14:sldId id="28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660"/>
  </p:normalViewPr>
  <p:slideViewPr>
    <p:cSldViewPr snapToGrid="0">
      <p:cViewPr varScale="1">
        <p:scale>
          <a:sx n="92" d="100"/>
          <a:sy n="92" d="100"/>
        </p:scale>
        <p:origin x="173" y="67"/>
      </p:cViewPr>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199655-05E8-4463-9482-2D23FD405AF3}" type="datetimeFigureOut">
              <a:rPr lang="en-IN" smtClean="0"/>
              <a:t>04-04-2026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C9CC48-2212-46F0-B96C-6F8104E82434}" type="slidenum">
              <a:rPr lang="en-IN" smtClean="0"/>
              <a:t>‹#›</a:t>
            </a:fld>
            <a:endParaRPr lang="en-I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3851868"/>
          </a:xfrm>
          <a:prstGeom prst="rect">
            <a:avLst/>
          </a:prstGeom>
        </p:spPr>
      </p:pic>
    </p:spTree>
    <p:extLst>
      <p:ext uri="{BB962C8B-B14F-4D97-AF65-F5344CB8AC3E}">
        <p14:creationId xmlns:p14="http://schemas.microsoft.com/office/powerpoint/2010/main" val="12714582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E0E28-087F-4BBF-B8BC-055CB0BBD464}" type="datetimeFigureOut">
              <a:rPr lang="en-IN" smtClean="0"/>
              <a:t>04-04-2026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5E3DF0-35B4-40E5-AC91-1A2000F81275}" type="slidenum">
              <a:rPr lang="en-IN" smtClean="0"/>
              <a:t>‹#›</a:t>
            </a:fld>
            <a:endParaRPr lang="en-IN"/>
          </a:p>
        </p:txBody>
      </p:sp>
    </p:spTree>
    <p:extLst>
      <p:ext uri="{BB962C8B-B14F-4D97-AF65-F5344CB8AC3E}">
        <p14:creationId xmlns:p14="http://schemas.microsoft.com/office/powerpoint/2010/main" val="260551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65E3DF0-35B4-40E5-AC91-1A2000F81275}" type="slidenum">
              <a:rPr lang="en-IN" smtClean="0"/>
              <a:t>1</a:t>
            </a:fld>
            <a:endParaRPr lang="en-IN"/>
          </a:p>
        </p:txBody>
      </p:sp>
    </p:spTree>
    <p:extLst>
      <p:ext uri="{BB962C8B-B14F-4D97-AF65-F5344CB8AC3E}">
        <p14:creationId xmlns:p14="http://schemas.microsoft.com/office/powerpoint/2010/main" val="1257921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r>
              <a:rPr lang="en-US"/>
              <a:t>10-11-2025</a:t>
            </a:r>
            <a:endParaRPr lang="en-IN"/>
          </a:p>
        </p:txBody>
      </p:sp>
      <p:sp>
        <p:nvSpPr>
          <p:cNvPr id="5" name="Footer Placeholder 4"/>
          <p:cNvSpPr>
            <a:spLocks noGrp="1"/>
          </p:cNvSpPr>
          <p:nvPr>
            <p:ph type="ftr" sz="quarter" idx="11"/>
          </p:nvPr>
        </p:nvSpPr>
        <p:spPr/>
        <p:txBody>
          <a:bodyPr/>
          <a:lstStyle/>
          <a:p>
            <a:r>
              <a:rPr lang="en-US"/>
              <a:t>Review No.01         Batch No. AB5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4231652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10-11-2025</a:t>
            </a:r>
            <a:endParaRPr lang="en-IN"/>
          </a:p>
        </p:txBody>
      </p:sp>
      <p:sp>
        <p:nvSpPr>
          <p:cNvPr id="5" name="Footer Placeholder 4"/>
          <p:cNvSpPr>
            <a:spLocks noGrp="1"/>
          </p:cNvSpPr>
          <p:nvPr>
            <p:ph type="ftr" sz="quarter" idx="11"/>
          </p:nvPr>
        </p:nvSpPr>
        <p:spPr/>
        <p:txBody>
          <a:bodyPr/>
          <a:lstStyle/>
          <a:p>
            <a:r>
              <a:rPr lang="en-US"/>
              <a:t>Review No.01         Batch No. AB5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7802064" cy="4382112"/>
          </a:xfrm>
          <a:prstGeom prst="rect">
            <a:avLst/>
          </a:prstGeom>
        </p:spPr>
      </p:pic>
    </p:spTree>
    <p:extLst>
      <p:ext uri="{BB962C8B-B14F-4D97-AF65-F5344CB8AC3E}">
        <p14:creationId xmlns:p14="http://schemas.microsoft.com/office/powerpoint/2010/main" val="226237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10-11-2025</a:t>
            </a:r>
            <a:endParaRPr lang="en-IN"/>
          </a:p>
        </p:txBody>
      </p:sp>
      <p:sp>
        <p:nvSpPr>
          <p:cNvPr id="5" name="Footer Placeholder 4"/>
          <p:cNvSpPr>
            <a:spLocks noGrp="1"/>
          </p:cNvSpPr>
          <p:nvPr>
            <p:ph type="ftr" sz="quarter" idx="11"/>
          </p:nvPr>
        </p:nvSpPr>
        <p:spPr/>
        <p:txBody>
          <a:bodyPr/>
          <a:lstStyle/>
          <a:p>
            <a:r>
              <a:rPr lang="en-US"/>
              <a:t>Review No.01         Batch No. AB5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132791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t>10-11-2025</a:t>
            </a:r>
            <a:endParaRPr lang="en-IN"/>
          </a:p>
        </p:txBody>
      </p:sp>
      <p:sp>
        <p:nvSpPr>
          <p:cNvPr id="6" name="Footer Placeholder 5"/>
          <p:cNvSpPr>
            <a:spLocks noGrp="1"/>
          </p:cNvSpPr>
          <p:nvPr>
            <p:ph type="ftr" sz="quarter" idx="11"/>
          </p:nvPr>
        </p:nvSpPr>
        <p:spPr/>
        <p:txBody>
          <a:bodyPr/>
          <a:lstStyle/>
          <a:p>
            <a:r>
              <a:rPr lang="en-US"/>
              <a:t>Review No.01         Batch No. AB5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402758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t>10-11-2025</a:t>
            </a:r>
            <a:endParaRPr lang="en-IN"/>
          </a:p>
        </p:txBody>
      </p:sp>
      <p:sp>
        <p:nvSpPr>
          <p:cNvPr id="8" name="Footer Placeholder 7"/>
          <p:cNvSpPr>
            <a:spLocks noGrp="1"/>
          </p:cNvSpPr>
          <p:nvPr>
            <p:ph type="ftr" sz="quarter" idx="11"/>
          </p:nvPr>
        </p:nvSpPr>
        <p:spPr/>
        <p:txBody>
          <a:bodyPr/>
          <a:lstStyle/>
          <a:p>
            <a:r>
              <a:rPr lang="en-US"/>
              <a:t>Review No.01         Batch No. AB5              Department of CSE</a:t>
            </a:r>
            <a:endParaRPr lang="en-IN"/>
          </a:p>
        </p:txBody>
      </p:sp>
      <p:sp>
        <p:nvSpPr>
          <p:cNvPr id="9" name="Slide Number Placeholder 8"/>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859279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t>10-11-2025</a:t>
            </a:r>
            <a:endParaRPr lang="en-IN"/>
          </a:p>
        </p:txBody>
      </p:sp>
      <p:sp>
        <p:nvSpPr>
          <p:cNvPr id="4" name="Footer Placeholder 3"/>
          <p:cNvSpPr>
            <a:spLocks noGrp="1"/>
          </p:cNvSpPr>
          <p:nvPr>
            <p:ph type="ftr" sz="quarter" idx="11"/>
          </p:nvPr>
        </p:nvSpPr>
        <p:spPr/>
        <p:txBody>
          <a:bodyPr/>
          <a:lstStyle/>
          <a:p>
            <a:r>
              <a:rPr lang="en-US"/>
              <a:t>Review No.01         Batch No. AB5              Department of CSE</a:t>
            </a:r>
            <a:endParaRPr lang="en-IN"/>
          </a:p>
        </p:txBody>
      </p:sp>
      <p:sp>
        <p:nvSpPr>
          <p:cNvPr id="5" name="Slide Number Placeholder 4"/>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826415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10-11-2025</a:t>
            </a:r>
            <a:endParaRPr lang="en-IN"/>
          </a:p>
        </p:txBody>
      </p:sp>
      <p:sp>
        <p:nvSpPr>
          <p:cNvPr id="3" name="Footer Placeholder 2"/>
          <p:cNvSpPr>
            <a:spLocks noGrp="1"/>
          </p:cNvSpPr>
          <p:nvPr>
            <p:ph type="ftr" sz="quarter" idx="11"/>
          </p:nvPr>
        </p:nvSpPr>
        <p:spPr/>
        <p:txBody>
          <a:bodyPr/>
          <a:lstStyle/>
          <a:p>
            <a:r>
              <a:rPr lang="en-US"/>
              <a:t>Review No.01         Batch No. AB5              Department of CSE</a:t>
            </a:r>
            <a:endParaRPr lang="en-IN"/>
          </a:p>
        </p:txBody>
      </p:sp>
      <p:sp>
        <p:nvSpPr>
          <p:cNvPr id="4" name="Slide Number Placeholder 3"/>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459629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10-11-2025</a:t>
            </a:r>
            <a:endParaRPr lang="en-IN"/>
          </a:p>
        </p:txBody>
      </p:sp>
      <p:sp>
        <p:nvSpPr>
          <p:cNvPr id="6" name="Footer Placeholder 5"/>
          <p:cNvSpPr>
            <a:spLocks noGrp="1"/>
          </p:cNvSpPr>
          <p:nvPr>
            <p:ph type="ftr" sz="quarter" idx="11"/>
          </p:nvPr>
        </p:nvSpPr>
        <p:spPr/>
        <p:txBody>
          <a:bodyPr/>
          <a:lstStyle/>
          <a:p>
            <a:r>
              <a:rPr lang="en-US"/>
              <a:t>Review No.01         Batch No. AB5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681320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10-11-2025</a:t>
            </a:r>
            <a:endParaRPr lang="en-IN"/>
          </a:p>
        </p:txBody>
      </p:sp>
      <p:sp>
        <p:nvSpPr>
          <p:cNvPr id="6" name="Footer Placeholder 5"/>
          <p:cNvSpPr>
            <a:spLocks noGrp="1"/>
          </p:cNvSpPr>
          <p:nvPr>
            <p:ph type="ftr" sz="quarter" idx="11"/>
          </p:nvPr>
        </p:nvSpPr>
        <p:spPr/>
        <p:txBody>
          <a:bodyPr/>
          <a:lstStyle/>
          <a:p>
            <a:r>
              <a:rPr lang="en-US"/>
              <a:t>Review No.01         Batch No. AB5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602278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10-11-2025</a:t>
            </a:r>
            <a:endParaRPr lang="en-IN"/>
          </a:p>
        </p:txBody>
      </p:sp>
      <p:sp>
        <p:nvSpPr>
          <p:cNvPr id="5" name="Footer Placeholder 4"/>
          <p:cNvSpPr>
            <a:spLocks noGrp="1"/>
          </p:cNvSpPr>
          <p:nvPr>
            <p:ph type="ftr" sz="quarter" idx="11"/>
          </p:nvPr>
        </p:nvSpPr>
        <p:spPr/>
        <p:txBody>
          <a:bodyPr/>
          <a:lstStyle/>
          <a:p>
            <a:r>
              <a:rPr lang="en-US"/>
              <a:t>Review No.01         Batch No. AB5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394357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10-11-2025</a:t>
            </a:r>
            <a:endParaRPr lang="en-IN"/>
          </a:p>
        </p:txBody>
      </p:sp>
      <p:sp>
        <p:nvSpPr>
          <p:cNvPr id="5" name="Footer Placeholder 4"/>
          <p:cNvSpPr>
            <a:spLocks noGrp="1"/>
          </p:cNvSpPr>
          <p:nvPr>
            <p:ph type="ftr" sz="quarter" idx="11"/>
          </p:nvPr>
        </p:nvSpPr>
        <p:spPr/>
        <p:txBody>
          <a:bodyPr/>
          <a:lstStyle/>
          <a:p>
            <a:r>
              <a:rPr lang="en-US"/>
              <a:t>Review No.01         Batch No. AB5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1839206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10-11-2025</a:t>
            </a:r>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No.01         Batch No. AB5              Department of CSE</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DCBD69-296B-4D7C-AF62-9B588FC78772}" type="slidenum">
              <a:rPr lang="en-IN" smtClean="0"/>
              <a:t>‹#›</a:t>
            </a:fld>
            <a:endParaRPr lang="en-IN"/>
          </a:p>
        </p:txBody>
      </p:sp>
    </p:spTree>
    <p:extLst>
      <p:ext uri="{BB962C8B-B14F-4D97-AF65-F5344CB8AC3E}">
        <p14:creationId xmlns:p14="http://schemas.microsoft.com/office/powerpoint/2010/main" val="4106517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7"/>
          <p:cNvSpPr txBox="1">
            <a:spLocks/>
          </p:cNvSpPr>
          <p:nvPr/>
        </p:nvSpPr>
        <p:spPr>
          <a:xfrm>
            <a:off x="1754154" y="705471"/>
            <a:ext cx="8915400" cy="375925"/>
          </a:xfrm>
          <a:prstGeom prst="roundRect">
            <a:avLst>
              <a:gd name="adj" fmla="val 16667"/>
            </a:avLst>
          </a:prstGeom>
          <a:ln w="25400" cap="flat" cmpd="sng" algn="ctr">
            <a:solidFill>
              <a:schemeClr val="bg1"/>
            </a:solidFill>
            <a:prstDash val="solid"/>
          </a:ln>
        </p:spPr>
        <p:style>
          <a:lnRef idx="2">
            <a:schemeClr val="accent1"/>
          </a:lnRef>
          <a:fillRef idx="1">
            <a:schemeClr val="lt1"/>
          </a:fillRef>
          <a:effectRef idx="0">
            <a:schemeClr val="accent1"/>
          </a:effectRef>
          <a:fontRef idx="minor">
            <a:schemeClr val="dk1"/>
          </a:fontRef>
        </p:style>
        <p:txBody>
          <a:bodyPr>
            <a:noAutofit/>
          </a:bodyPr>
          <a:lstStyle/>
          <a:p>
            <a:pPr lvl="0" algn="ctr">
              <a:spcBef>
                <a:spcPct val="20000"/>
              </a:spcBef>
              <a:defRPr/>
            </a:pPr>
            <a:r>
              <a:rPr lang="en-US" b="1" dirty="0">
                <a:latin typeface="Times New Roman" panose="02020603050405020304" pitchFamily="18" charset="0"/>
                <a:cs typeface="Times New Roman" pitchFamily="18" charset="0"/>
              </a:rPr>
              <a:t>Department of Computer Science and Engineering</a:t>
            </a:r>
          </a:p>
          <a:p>
            <a:pPr algn="ctr">
              <a:spcBef>
                <a:spcPct val="20000"/>
              </a:spcBef>
              <a:defRPr/>
            </a:pPr>
            <a:r>
              <a:rPr lang="en-US" sz="2400" dirty="0" err="1">
                <a:solidFill>
                  <a:srgbClr val="FF0000"/>
                </a:solidFill>
              </a:rPr>
              <a:t>DeepWaterSeg</a:t>
            </a:r>
            <a:r>
              <a:rPr lang="en-US" sz="2400" dirty="0">
                <a:solidFill>
                  <a:srgbClr val="FF0000"/>
                </a:solidFill>
              </a:rPr>
              <a:t>: High-Resolution Satellite Imagery Analysis for Water Body Extraction Using </a:t>
            </a:r>
            <a:r>
              <a:rPr lang="en-US" sz="2400" dirty="0" err="1">
                <a:solidFill>
                  <a:srgbClr val="FF0000"/>
                </a:solidFill>
              </a:rPr>
              <a:t>ResNet</a:t>
            </a:r>
            <a:r>
              <a:rPr lang="en-US" sz="2400" dirty="0">
                <a:solidFill>
                  <a:srgbClr val="FF0000"/>
                </a:solidFill>
              </a:rPr>
              <a:t>-U-Net</a:t>
            </a:r>
            <a:endPar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itchFamily="18" charset="0"/>
            </a:endParaRPr>
          </a:p>
        </p:txBody>
      </p:sp>
      <p:sp>
        <p:nvSpPr>
          <p:cNvPr id="16" name="Subtitle 2"/>
          <p:cNvSpPr>
            <a:spLocks noGrp="1"/>
          </p:cNvSpPr>
          <p:nvPr>
            <p:ph type="subTitle" idx="1"/>
          </p:nvPr>
        </p:nvSpPr>
        <p:spPr>
          <a:xfrm>
            <a:off x="1754154" y="1966120"/>
            <a:ext cx="9144000" cy="1596064"/>
          </a:xfrm>
        </p:spPr>
        <p:txBody>
          <a:bodyPr>
            <a:normAutofit lnSpcReduction="10000"/>
          </a:bodyPr>
          <a:lstStyle/>
          <a:p>
            <a:pPr eaLnBrk="1" hangingPunct="1"/>
            <a:r>
              <a:rPr lang="en-US" altLang="en-US" sz="1600" dirty="0">
                <a:solidFill>
                  <a:schemeClr val="tx1"/>
                </a:solidFill>
                <a:latin typeface="Times New Roman" panose="02020603050405020304" pitchFamily="18" charset="0"/>
                <a:cs typeface="Times New Roman" pitchFamily="18" charset="0"/>
              </a:rPr>
              <a:t>PRESENTED BY</a:t>
            </a:r>
          </a:p>
          <a:p>
            <a:pPr algn="l" eaLnBrk="1" hangingPunct="1"/>
            <a:r>
              <a:rPr lang="en-US" altLang="en-US" sz="1600" dirty="0">
                <a:solidFill>
                  <a:schemeClr val="tx1"/>
                </a:solidFill>
                <a:latin typeface="Times New Roman" panose="02020603050405020304" pitchFamily="18" charset="0"/>
                <a:cs typeface="Times New Roman" pitchFamily="18" charset="0"/>
              </a:rPr>
              <a:t>			     R. Anjaneya Kumar </a:t>
            </a:r>
            <a:r>
              <a:rPr lang="en-US" altLang="en-US" sz="1600" dirty="0">
                <a:latin typeface="Times New Roman" panose="02020603050405020304" pitchFamily="18" charset="0"/>
                <a:cs typeface="Times New Roman" pitchFamily="18" charset="0"/>
              </a:rPr>
              <a:t>(22471A0545)</a:t>
            </a:r>
            <a:endParaRPr lang="en-US" altLang="en-US" sz="1600" dirty="0">
              <a:solidFill>
                <a:schemeClr val="tx1"/>
              </a:solidFill>
              <a:latin typeface="Times New Roman" panose="02020603050405020304" pitchFamily="18" charset="0"/>
              <a:cs typeface="Times New Roman" pitchFamily="18" charset="0"/>
            </a:endParaRPr>
          </a:p>
          <a:p>
            <a:pPr algn="l"/>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		     K. Durga prasad</a:t>
            </a:r>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22471A0531</a:t>
            </a:r>
            <a:r>
              <a:rPr lang="en-US" altLang="en-US" sz="1600" dirty="0">
                <a:solidFill>
                  <a:schemeClr val="tx1"/>
                </a:solidFill>
                <a:latin typeface="Times New Roman" panose="02020603050405020304" pitchFamily="18" charset="0"/>
                <a:cs typeface="Times New Roman" pitchFamily="18" charset="0"/>
              </a:rPr>
              <a:t>)</a:t>
            </a:r>
          </a:p>
          <a:p>
            <a:pPr algn="l"/>
            <a:r>
              <a:rPr lang="en-US" altLang="en-US" sz="1600" dirty="0">
                <a:solidFill>
                  <a:schemeClr val="tx1"/>
                </a:solidFill>
                <a:latin typeface="Times New Roman" panose="02020603050405020304" pitchFamily="18" charset="0"/>
                <a:cs typeface="Times New Roman" pitchFamily="18" charset="0"/>
              </a:rPr>
              <a:t>			     S</a:t>
            </a:r>
            <a:r>
              <a:rPr lang="en-US" altLang="en-US" sz="1600" dirty="0">
                <a:latin typeface="Times New Roman" panose="02020603050405020304" pitchFamily="18" charset="0"/>
                <a:cs typeface="Times New Roman" pitchFamily="18" charset="0"/>
              </a:rPr>
              <a:t>. </a:t>
            </a:r>
            <a:r>
              <a:rPr lang="en-US" altLang="en-US" sz="1600" dirty="0" err="1">
                <a:latin typeface="Times New Roman" panose="02020603050405020304" pitchFamily="18" charset="0"/>
                <a:cs typeface="Times New Roman" pitchFamily="18" charset="0"/>
              </a:rPr>
              <a:t>Matheena</a:t>
            </a:r>
            <a:r>
              <a:rPr lang="en-US" altLang="en-US" sz="1600" dirty="0">
                <a:latin typeface="Times New Roman" panose="02020603050405020304" pitchFamily="18" charset="0"/>
                <a:cs typeface="Times New Roman" pitchFamily="18" charset="0"/>
              </a:rPr>
              <a:t> baba</a:t>
            </a:r>
            <a:r>
              <a:rPr lang="en-US" altLang="en-US" sz="1600" dirty="0">
                <a:solidFill>
                  <a:schemeClr val="tx1"/>
                </a:solidFill>
                <a:latin typeface="Times New Roman" panose="02020603050405020304" pitchFamily="18" charset="0"/>
                <a:cs typeface="Times New Roman" pitchFamily="18" charset="0"/>
              </a:rPr>
              <a:t>	(22471A0559) </a:t>
            </a:r>
          </a:p>
          <a:p>
            <a:pPr algn="l"/>
            <a:r>
              <a:rPr lang="en-US" altLang="en-US" sz="1600" dirty="0">
                <a:solidFill>
                  <a:schemeClr val="tx1"/>
                </a:solidFill>
                <a:latin typeface="Times New Roman" panose="02020603050405020304" pitchFamily="18" charset="0"/>
                <a:cs typeface="Times New Roman" pitchFamily="18" charset="0"/>
              </a:rPr>
              <a:t>                                                           S. </a:t>
            </a:r>
            <a:r>
              <a:rPr lang="en-US" altLang="en-US" sz="1600" dirty="0">
                <a:latin typeface="Times New Roman" panose="02020603050405020304" pitchFamily="18" charset="0"/>
                <a:cs typeface="Times New Roman" pitchFamily="18" charset="0"/>
              </a:rPr>
              <a:t>S</a:t>
            </a:r>
            <a:r>
              <a:rPr lang="en-US" altLang="en-US" sz="1600" dirty="0">
                <a:solidFill>
                  <a:schemeClr val="tx1"/>
                </a:solidFill>
                <a:latin typeface="Times New Roman" panose="02020603050405020304" pitchFamily="18" charset="0"/>
                <a:cs typeface="Times New Roman" pitchFamily="18" charset="0"/>
              </a:rPr>
              <a:t>haahid (22471A0554)</a:t>
            </a:r>
          </a:p>
          <a:p>
            <a:pPr algn="l"/>
            <a:endParaRPr lang="en-US" altLang="en-US" sz="1600" dirty="0">
              <a:solidFill>
                <a:schemeClr val="tx1"/>
              </a:solidFill>
              <a:latin typeface="Times New Roman" panose="02020603050405020304" pitchFamily="18" charset="0"/>
              <a:cs typeface="Times New Roman" pitchFamily="18" charset="0"/>
            </a:endParaRPr>
          </a:p>
          <a:p>
            <a:pPr algn="l"/>
            <a:endParaRPr lang="en-US" altLang="en-US" sz="1600" dirty="0">
              <a:solidFill>
                <a:schemeClr val="tx1"/>
              </a:solidFill>
              <a:latin typeface="Times New Roman" panose="02020603050405020304" pitchFamily="18" charset="0"/>
              <a:cs typeface="Times New Roman" pitchFamily="18" charset="0"/>
            </a:endParaRPr>
          </a:p>
        </p:txBody>
      </p:sp>
      <p:sp>
        <p:nvSpPr>
          <p:cNvPr id="17" name="Subtitle 2"/>
          <p:cNvSpPr txBox="1">
            <a:spLocks/>
          </p:cNvSpPr>
          <p:nvPr/>
        </p:nvSpPr>
        <p:spPr bwMode="auto">
          <a:xfrm>
            <a:off x="2897154" y="3641697"/>
            <a:ext cx="6858000" cy="2368374"/>
          </a:xfrm>
          <a:prstGeom prst="rect">
            <a:avLst/>
          </a:prstGeom>
          <a:noFill/>
          <a:ln w="9525">
            <a:noFill/>
            <a:miter lim="800000"/>
            <a:headEnd/>
            <a:tailEnd/>
          </a:ln>
        </p:spPr>
        <p:txBody>
          <a:bodyPr/>
          <a:lstStyle/>
          <a:p>
            <a:pPr algn="ctr" eaLnBrk="1" hangingPunct="1">
              <a:spcBef>
                <a:spcPct val="20000"/>
              </a:spcBef>
              <a:buFont typeface="Wingdings" pitchFamily="2" charset="2"/>
              <a:buNone/>
            </a:pPr>
            <a:r>
              <a:rPr lang="en-US" altLang="en-US" dirty="0">
                <a:solidFill>
                  <a:srgbClr val="006600"/>
                </a:solidFill>
                <a:latin typeface="Times New Roman" panose="02020603050405020304" pitchFamily="18" charset="0"/>
                <a:cs typeface="Times New Roman" pitchFamily="18" charset="0"/>
              </a:rPr>
              <a:t>Under the Guidance of,</a:t>
            </a:r>
            <a:endParaRPr lang="en-US" altLang="en-US" b="1" dirty="0">
              <a:solidFill>
                <a:srgbClr val="006600"/>
              </a:solidFill>
              <a:latin typeface="Times New Roman" pitchFamily="18" charset="0"/>
              <a:cs typeface="Times New Roman" pitchFamily="18" charset="0"/>
            </a:endParaRPr>
          </a:p>
          <a:p>
            <a:pPr algn="ctr" eaLnBrk="1" hangingPunct="1">
              <a:spcBef>
                <a:spcPct val="20000"/>
              </a:spcBef>
              <a:buFont typeface="Wingdings" pitchFamily="2" charset="2"/>
              <a:buNone/>
            </a:pPr>
            <a:endParaRPr lang="en-US" altLang="en-US" sz="900" b="1" dirty="0">
              <a:solidFill>
                <a:schemeClr val="bg1"/>
              </a:solidFill>
              <a:latin typeface="Times New Roman" pitchFamily="18" charset="0"/>
              <a:cs typeface="Times New Roman" pitchFamily="18" charset="0"/>
            </a:endParaRPr>
          </a:p>
          <a:p>
            <a:pPr algn="ctr">
              <a:spcBef>
                <a:spcPct val="20000"/>
              </a:spcBef>
            </a:pPr>
            <a:r>
              <a:rPr lang="en-US" sz="1800" b="1" kern="1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Sk. Kaja Mohiddin Basha </a:t>
            </a:r>
            <a:r>
              <a:rPr lang="en-US" sz="1800" b="1" kern="100" baseline="-25000" dirty="0" err="1">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M.Tech</a:t>
            </a:r>
            <a:endParaRPr lang="en-IN" sz="1800" b="1" kern="100" baseline="-25000" dirty="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algn="ctr" eaLnBrk="1" hangingPunct="1">
              <a:lnSpc>
                <a:spcPct val="150000"/>
              </a:lnSpc>
              <a:spcBef>
                <a:spcPct val="20000"/>
              </a:spcBef>
              <a:buFont typeface="Wingdings" pitchFamily="2" charset="2"/>
              <a:buNone/>
            </a:pPr>
            <a:r>
              <a:rPr lang="en-US" sz="1600" b="1" kern="1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Associate Professor ,</a:t>
            </a:r>
            <a:endParaRPr lang="en-US" altLang="en-US" sz="1600" b="1" dirty="0">
              <a:solidFill>
                <a:schemeClr val="tx1">
                  <a:lumMod val="95000"/>
                  <a:lumOff val="5000"/>
                </a:schemeClr>
              </a:solidFill>
              <a:latin typeface="Times New Roman" pitchFamily="18" charset="0"/>
              <a:cs typeface="Times New Roman" pitchFamily="18" charset="0"/>
            </a:endParaRPr>
          </a:p>
          <a:p>
            <a:pPr algn="ctr" eaLnBrk="1" hangingPunct="1">
              <a:lnSpc>
                <a:spcPct val="150000"/>
              </a:lnSpc>
              <a:spcBef>
                <a:spcPct val="20000"/>
              </a:spcBef>
              <a:buFont typeface="Wingdings" pitchFamily="2" charset="2"/>
              <a:buNone/>
            </a:pPr>
            <a:r>
              <a:rPr lang="en-US" altLang="en-US" sz="1600" dirty="0">
                <a:solidFill>
                  <a:schemeClr val="tx1">
                    <a:lumMod val="95000"/>
                    <a:lumOff val="5000"/>
                  </a:schemeClr>
                </a:solidFill>
                <a:latin typeface="Times New Roman" pitchFamily="18" charset="0"/>
                <a:cs typeface="Times New Roman" pitchFamily="18" charset="0"/>
              </a:rPr>
              <a:t>Department of Computer Science and Engineering,</a:t>
            </a:r>
          </a:p>
          <a:p>
            <a:pPr algn="ctr" eaLnBrk="1" hangingPunct="1">
              <a:lnSpc>
                <a:spcPct val="150000"/>
              </a:lnSpc>
              <a:spcBef>
                <a:spcPct val="20000"/>
              </a:spcBef>
              <a:buFont typeface="Wingdings" pitchFamily="2" charset="2"/>
              <a:buNone/>
            </a:pPr>
            <a:r>
              <a:rPr lang="en-US" altLang="en-US" sz="1600" dirty="0" err="1">
                <a:solidFill>
                  <a:schemeClr val="tx1">
                    <a:lumMod val="95000"/>
                    <a:lumOff val="5000"/>
                  </a:schemeClr>
                </a:solidFill>
                <a:latin typeface="Times New Roman" pitchFamily="18" charset="0"/>
                <a:cs typeface="Times New Roman" pitchFamily="18" charset="0"/>
              </a:rPr>
              <a:t>Narasaraopeta</a:t>
            </a:r>
            <a:r>
              <a:rPr lang="en-US" altLang="en-US" sz="1600" dirty="0">
                <a:solidFill>
                  <a:schemeClr val="tx1">
                    <a:lumMod val="95000"/>
                    <a:lumOff val="5000"/>
                  </a:schemeClr>
                </a:solidFill>
                <a:latin typeface="Times New Roman" pitchFamily="18" charset="0"/>
                <a:cs typeface="Times New Roman" pitchFamily="18" charset="0"/>
              </a:rPr>
              <a:t> Engineering College (Autonomous),</a:t>
            </a:r>
          </a:p>
          <a:p>
            <a:pPr algn="ctr" eaLnBrk="1" hangingPunct="1">
              <a:lnSpc>
                <a:spcPct val="150000"/>
              </a:lnSpc>
              <a:spcBef>
                <a:spcPct val="20000"/>
              </a:spcBef>
              <a:buFont typeface="Wingdings" pitchFamily="2" charset="2"/>
              <a:buNone/>
            </a:pPr>
            <a:r>
              <a:rPr lang="en-US" altLang="en-US" sz="1600" dirty="0">
                <a:solidFill>
                  <a:schemeClr val="tx1">
                    <a:lumMod val="95000"/>
                    <a:lumOff val="5000"/>
                  </a:schemeClr>
                </a:solidFill>
                <a:latin typeface="Times New Roman" pitchFamily="18" charset="0"/>
                <a:cs typeface="Times New Roman" pitchFamily="18" charset="0"/>
              </a:rPr>
              <a:t>Narasaraopet- 522 601.</a:t>
            </a:r>
          </a:p>
        </p:txBody>
      </p:sp>
      <p:pic>
        <p:nvPicPr>
          <p:cNvPr id="9" name="Picture 8"/>
          <p:cNvPicPr>
            <a:picLocks noChangeAspect="1"/>
          </p:cNvPicPr>
          <p:nvPr/>
        </p:nvPicPr>
        <p:blipFill>
          <a:blip r:embed="rId3"/>
          <a:stretch>
            <a:fillRect/>
          </a:stretch>
        </p:blipFill>
        <p:spPr>
          <a:xfrm>
            <a:off x="0" y="90674"/>
            <a:ext cx="3762900" cy="579027"/>
          </a:xfrm>
          <a:prstGeom prst="rect">
            <a:avLst/>
          </a:prstGeom>
        </p:spPr>
      </p:pic>
    </p:spTree>
    <p:extLst>
      <p:ext uri="{BB962C8B-B14F-4D97-AF65-F5344CB8AC3E}">
        <p14:creationId xmlns:p14="http://schemas.microsoft.com/office/powerpoint/2010/main" val="2603341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73486"/>
            <a:ext cx="10173182" cy="810555"/>
          </a:xfrm>
        </p:spPr>
        <p:txBody>
          <a:bodyPr/>
          <a:lstStyle/>
          <a:p>
            <a:pPr algn="ctr"/>
            <a:r>
              <a:rPr lang="en-US" b="1">
                <a:latin typeface="Times New Roman" panose="02020603050405020304" pitchFamily="18" charset="0"/>
                <a:cs typeface="Times New Roman" panose="02020603050405020304" pitchFamily="18" charset="0"/>
              </a:rPr>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940158" y="1274193"/>
            <a:ext cx="10534917" cy="5082157"/>
          </a:xfrm>
        </p:spPr>
        <p:txBody>
          <a:bodyPr>
            <a:normAutofit lnSpcReduction="10000"/>
          </a:bodyPr>
          <a:lstStyle/>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Abstract</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Introduction</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Literature Survey </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Research Gaps</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Problem Statement </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Objectives </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Block Diagram / Flow Diagram</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Methodology </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Implementation</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Results and Analysis </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Conclusion &amp; Future Scope</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References</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Acknowledgements</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Question and Answers </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No.01         Batch No. AB5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6752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a:latin typeface="Times New Roman" panose="02020603050405020304" pitchFamily="18" charset="0"/>
                <a:cs typeface="Times New Roman" panose="02020603050405020304" pitchFamily="18" charset="0"/>
              </a:rPr>
              <a:t>ABSTRACT</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No.01         Batch No. AB5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FF6D0F4-0F98-9A28-3386-CCCD30F7AD43}"/>
              </a:ext>
            </a:extLst>
          </p:cNvPr>
          <p:cNvSpPr txBox="1"/>
          <p:nvPr/>
        </p:nvSpPr>
        <p:spPr>
          <a:xfrm>
            <a:off x="1065475" y="1836751"/>
            <a:ext cx="10391249" cy="3539430"/>
          </a:xfrm>
          <a:prstGeom prst="rect">
            <a:avLst/>
          </a:prstGeom>
          <a:noFill/>
        </p:spPr>
        <p:txBody>
          <a:bodyPr wrap="square">
            <a:spAutoFit/>
          </a:bodyPr>
          <a:lstStyle/>
          <a:p>
            <a:r>
              <a:rPr lang="en-US" sz="2800" dirty="0"/>
              <a:t>This work focuses on </a:t>
            </a:r>
            <a:r>
              <a:rPr lang="en-US" sz="2800" b="1" dirty="0"/>
              <a:t>accurate water body extraction</a:t>
            </a:r>
            <a:r>
              <a:rPr lang="en-US" sz="2800" dirty="0"/>
              <a:t> from high-resolution satellite images using a </a:t>
            </a:r>
            <a:r>
              <a:rPr lang="en-US" sz="2800" b="1" dirty="0"/>
              <a:t>ResNet50-based U-Net</a:t>
            </a:r>
            <a:r>
              <a:rPr lang="en-US" sz="2800" dirty="0"/>
              <a:t> architecture. The model effectively identifies rivers, lakes, and ponds across varied terrains. With efficient preprocessing and training, the approach achieved strong results, including </a:t>
            </a:r>
            <a:r>
              <a:rPr lang="en-US" sz="2800" b="1" dirty="0"/>
              <a:t>96% precision</a:t>
            </a:r>
            <a:r>
              <a:rPr lang="en-US" sz="2800" dirty="0"/>
              <a:t> and </a:t>
            </a:r>
            <a:r>
              <a:rPr lang="en-US" sz="2800" b="1" dirty="0"/>
              <a:t>92% accuracy</a:t>
            </a:r>
            <a:r>
              <a:rPr lang="en-US" sz="2800" dirty="0"/>
              <a:t>, demonstrating reliable segmentation performance. These results support improved disaster response, freshwater monitoring, and environmental management applications.</a:t>
            </a:r>
            <a:endParaRPr lang="en-IN" sz="2800" dirty="0"/>
          </a:p>
        </p:txBody>
      </p:sp>
    </p:spTree>
    <p:extLst>
      <p:ext uri="{BB962C8B-B14F-4D97-AF65-F5344CB8AC3E}">
        <p14:creationId xmlns:p14="http://schemas.microsoft.com/office/powerpoint/2010/main" val="13691089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xit" presetSubtype="0" fill="hold" grpId="0" nodeType="clickEffect">
                                  <p:stCondLst>
                                    <p:cond delay="0"/>
                                  </p:stCondLst>
                                  <p:childTnLst>
                                    <p:anim calcmode="lin" valueType="num">
                                      <p:cBhvr>
                                        <p:cTn id="6" dur="1000"/>
                                        <p:tgtEl>
                                          <p:spTgt spid="3"/>
                                        </p:tgtEl>
                                        <p:attrNameLst>
                                          <p:attrName>ppt_w</p:attrName>
                                        </p:attrNameLst>
                                      </p:cBhvr>
                                      <p:tavLst>
                                        <p:tav tm="0">
                                          <p:val>
                                            <p:strVal val="ppt_w"/>
                                          </p:val>
                                        </p:tav>
                                        <p:tav tm="100000">
                                          <p:val>
                                            <p:fltVal val="0"/>
                                          </p:val>
                                        </p:tav>
                                      </p:tavLst>
                                    </p:anim>
                                    <p:anim calcmode="lin" valueType="num">
                                      <p:cBhvr>
                                        <p:cTn id="7" dur="1000"/>
                                        <p:tgtEl>
                                          <p:spTgt spid="3"/>
                                        </p:tgtEl>
                                        <p:attrNameLst>
                                          <p:attrName>ppt_h</p:attrName>
                                        </p:attrNameLst>
                                      </p:cBhvr>
                                      <p:tavLst>
                                        <p:tav tm="0">
                                          <p:val>
                                            <p:strVal val="ppt_h"/>
                                          </p:val>
                                        </p:tav>
                                        <p:tav tm="100000">
                                          <p:val>
                                            <p:fltVal val="0"/>
                                          </p:val>
                                        </p:tav>
                                      </p:tavLst>
                                    </p:anim>
                                    <p:anim calcmode="lin" valueType="num">
                                      <p:cBhvr>
                                        <p:cTn id="8" dur="1000"/>
                                        <p:tgtEl>
                                          <p:spTgt spid="3"/>
                                        </p:tgtEl>
                                        <p:attrNameLst>
                                          <p:attrName>style.rotation</p:attrName>
                                        </p:attrNameLst>
                                      </p:cBhvr>
                                      <p:tavLst>
                                        <p:tav tm="0">
                                          <p:val>
                                            <p:fltVal val="0"/>
                                          </p:val>
                                        </p:tav>
                                        <p:tav tm="100000">
                                          <p:val>
                                            <p:fltVal val="90"/>
                                          </p:val>
                                        </p:tav>
                                      </p:tavLst>
                                    </p:anim>
                                    <p:animEffect transition="out" filter="fade">
                                      <p:cBhvr>
                                        <p:cTn id="9" dur="1000"/>
                                        <p:tgtEl>
                                          <p:spTgt spid="3"/>
                                        </p:tgtEl>
                                      </p:cBhvr>
                                    </p:animEffect>
                                    <p:set>
                                      <p:cBhvr>
                                        <p:cTn id="10" dur="1" fill="hold">
                                          <p:stCondLst>
                                            <p:cond delay="9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660480" y="1991667"/>
            <a:ext cx="6971281" cy="3866150"/>
          </a:xfrm>
        </p:spPr>
        <p:txBody>
          <a:bodyPr>
            <a:normAutofit/>
          </a:bodyPr>
          <a:lstStyle/>
          <a:p>
            <a:pPr marL="0" indent="0" algn="just">
              <a:buNone/>
            </a:pPr>
            <a:r>
              <a:rPr lang="en-US" sz="2000" dirty="0"/>
              <a:t>Water bodies such as rivers, lakes, and ponds are essential for sustaining ecological balance, agriculture, industry, and human life. Effective monitoring and extraction of these water bodies are crucial, especially during disasters like floods where timely response is needed. Traditional methods of water body identification are slow and prone to inaccuracies. With advancements in remote sensing and deep learning, automated segmentation has become more efficient. This research utilizes high-resolution satellite imagery and a ResNet50-based U-Net architecture to achieve precise water body segmentation, ensuring improved detection of thin and irregular water boundaries across diverse landscapes for resource management and disaster planning.</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No.01         Batch No. AB5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C66A9A2-D50A-5082-0D0C-D4BB67CE57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8911" y="2190692"/>
            <a:ext cx="3977594" cy="2476615"/>
          </a:xfrm>
          <a:prstGeom prst="rect">
            <a:avLst/>
          </a:prstGeom>
        </p:spPr>
      </p:pic>
    </p:spTree>
    <p:extLst>
      <p:ext uri="{BB962C8B-B14F-4D97-AF65-F5344CB8AC3E}">
        <p14:creationId xmlns:p14="http://schemas.microsoft.com/office/powerpoint/2010/main" val="3475754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79429"/>
            <a:ext cx="10173182" cy="56215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0" indent="0">
              <a:buNone/>
            </a:pPr>
            <a:endParaRPr lang="en-IN">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a:xfrm>
            <a:off x="838200" y="6356350"/>
            <a:ext cx="2743200" cy="365125"/>
          </a:xfrm>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No.01         Batch No. AB5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5</a:t>
            </a:fld>
            <a:endParaRPr lang="en-US">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a16="http://schemas.microsoft.com/office/drawing/2014/main" id="{3E8CACDC-CE1B-448A-5D5F-BF4D715F95AE}"/>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7F1DE1FD-B9E5-4A8E-F9CE-647DF789FC9B}"/>
              </a:ext>
            </a:extLst>
          </p:cNvPr>
          <p:cNvGraphicFramePr>
            <a:graphicFrameLocks noGrp="1"/>
          </p:cNvGraphicFramePr>
          <p:nvPr>
            <p:extLst>
              <p:ext uri="{D42A27DB-BD31-4B8C-83A1-F6EECF244321}">
                <p14:modId xmlns:p14="http://schemas.microsoft.com/office/powerpoint/2010/main" val="1169031369"/>
              </p:ext>
            </p:extLst>
          </p:nvPr>
        </p:nvGraphicFramePr>
        <p:xfrm>
          <a:off x="685800" y="925257"/>
          <a:ext cx="10978244" cy="5453721"/>
        </p:xfrm>
        <a:graphic>
          <a:graphicData uri="http://schemas.openxmlformats.org/drawingml/2006/table">
            <a:tbl>
              <a:tblPr firstRow="1" bandRow="1">
                <a:tableStyleId>{5C22544A-7EE6-4342-B048-85BDC9FD1C3A}</a:tableStyleId>
              </a:tblPr>
              <a:tblGrid>
                <a:gridCol w="537844">
                  <a:extLst>
                    <a:ext uri="{9D8B030D-6E8A-4147-A177-3AD203B41FA5}">
                      <a16:colId xmlns:a16="http://schemas.microsoft.com/office/drawing/2014/main" val="3742344260"/>
                    </a:ext>
                  </a:extLst>
                </a:gridCol>
                <a:gridCol w="2226903">
                  <a:extLst>
                    <a:ext uri="{9D8B030D-6E8A-4147-A177-3AD203B41FA5}">
                      <a16:colId xmlns:a16="http://schemas.microsoft.com/office/drawing/2014/main" val="986068592"/>
                    </a:ext>
                  </a:extLst>
                </a:gridCol>
                <a:gridCol w="1523670">
                  <a:extLst>
                    <a:ext uri="{9D8B030D-6E8A-4147-A177-3AD203B41FA5}">
                      <a16:colId xmlns:a16="http://schemas.microsoft.com/office/drawing/2014/main" val="997545680"/>
                    </a:ext>
                  </a:extLst>
                </a:gridCol>
                <a:gridCol w="1609621">
                  <a:extLst>
                    <a:ext uri="{9D8B030D-6E8A-4147-A177-3AD203B41FA5}">
                      <a16:colId xmlns:a16="http://schemas.microsoft.com/office/drawing/2014/main" val="3333222969"/>
                    </a:ext>
                  </a:extLst>
                </a:gridCol>
                <a:gridCol w="1943564">
                  <a:extLst>
                    <a:ext uri="{9D8B030D-6E8A-4147-A177-3AD203B41FA5}">
                      <a16:colId xmlns:a16="http://schemas.microsoft.com/office/drawing/2014/main" val="3950897525"/>
                    </a:ext>
                  </a:extLst>
                </a:gridCol>
                <a:gridCol w="1568321">
                  <a:extLst>
                    <a:ext uri="{9D8B030D-6E8A-4147-A177-3AD203B41FA5}">
                      <a16:colId xmlns:a16="http://schemas.microsoft.com/office/drawing/2014/main" val="996838012"/>
                    </a:ext>
                  </a:extLst>
                </a:gridCol>
                <a:gridCol w="1568321">
                  <a:extLst>
                    <a:ext uri="{9D8B030D-6E8A-4147-A177-3AD203B41FA5}">
                      <a16:colId xmlns:a16="http://schemas.microsoft.com/office/drawing/2014/main" val="2027676235"/>
                    </a:ext>
                  </a:extLst>
                </a:gridCol>
              </a:tblGrid>
              <a:tr h="526975">
                <a:tc>
                  <a:txBody>
                    <a:bodyPr/>
                    <a:lstStyle/>
                    <a:p>
                      <a:r>
                        <a:rPr lang="en-IN" sz="1600" dirty="0"/>
                        <a:t>Sno</a:t>
                      </a:r>
                    </a:p>
                  </a:txBody>
                  <a:tcPr/>
                </a:tc>
                <a:tc>
                  <a:txBody>
                    <a:bodyPr/>
                    <a:lstStyle/>
                    <a:p>
                      <a:r>
                        <a:rPr lang="en-IN" sz="1600" dirty="0"/>
                        <a:t>Title</a:t>
                      </a:r>
                    </a:p>
                  </a:txBody>
                  <a:tcPr/>
                </a:tc>
                <a:tc>
                  <a:txBody>
                    <a:bodyPr/>
                    <a:lstStyle/>
                    <a:p>
                      <a:r>
                        <a:rPr lang="en-IN" sz="1600" dirty="0"/>
                        <a:t>Author</a:t>
                      </a:r>
                    </a:p>
                  </a:txBody>
                  <a:tcPr/>
                </a:tc>
                <a:tc>
                  <a:txBody>
                    <a:bodyPr/>
                    <a:lstStyle/>
                    <a:p>
                      <a:r>
                        <a:rPr lang="en-IN" sz="1600" dirty="0"/>
                        <a:t>Publisher and Year</a:t>
                      </a:r>
                    </a:p>
                  </a:txBody>
                  <a:tcPr/>
                </a:tc>
                <a:tc>
                  <a:txBody>
                    <a:bodyPr/>
                    <a:lstStyle/>
                    <a:p>
                      <a:r>
                        <a:rPr lang="en-IN" sz="1600" dirty="0"/>
                        <a:t>Methodology used</a:t>
                      </a:r>
                    </a:p>
                  </a:txBody>
                  <a:tcPr/>
                </a:tc>
                <a:tc>
                  <a:txBody>
                    <a:bodyPr/>
                    <a:lstStyle/>
                    <a:p>
                      <a:r>
                        <a:rPr lang="en-IN" sz="1600" dirty="0"/>
                        <a:t>Key findings</a:t>
                      </a:r>
                    </a:p>
                  </a:txBody>
                  <a:tcPr/>
                </a:tc>
                <a:tc>
                  <a:txBody>
                    <a:bodyPr/>
                    <a:lstStyle/>
                    <a:p>
                      <a:r>
                        <a:rPr lang="en-IN" sz="1600" dirty="0"/>
                        <a:t>Gaps</a:t>
                      </a:r>
                    </a:p>
                  </a:txBody>
                  <a:tcPr/>
                </a:tc>
                <a:extLst>
                  <a:ext uri="{0D108BD9-81ED-4DB2-BD59-A6C34878D82A}">
                    <a16:rowId xmlns:a16="http://schemas.microsoft.com/office/drawing/2014/main" val="1374139751"/>
                  </a:ext>
                </a:extLst>
              </a:tr>
              <a:tr h="1111713">
                <a:tc>
                  <a:txBody>
                    <a:bodyPr/>
                    <a:lstStyle/>
                    <a:p>
                      <a:r>
                        <a:rPr lang="en-IN" sz="1600" dirty="0"/>
                        <a:t>1.</a:t>
                      </a:r>
                    </a:p>
                  </a:txBody>
                  <a:tcPr/>
                </a:tc>
                <a:tc>
                  <a:txBody>
                    <a:bodyPr/>
                    <a:lstStyle/>
                    <a:p>
                      <a:pPr>
                        <a:buNone/>
                      </a:pPr>
                      <a:r>
                        <a:rPr lang="en-US" sz="1600" dirty="0"/>
                        <a:t>DMLU-Net: A Hybrid Neural Network for Water Body Extraction</a:t>
                      </a:r>
                    </a:p>
                  </a:txBody>
                  <a:tcPr anchor="ctr"/>
                </a:tc>
                <a:tc>
                  <a:txBody>
                    <a:bodyPr/>
                    <a:lstStyle/>
                    <a:p>
                      <a:pPr>
                        <a:buNone/>
                      </a:pPr>
                      <a:r>
                        <a:rPr lang="it-IT" sz="1600" dirty="0"/>
                        <a:t>Z. Xu, M. Li, H. Guo</a:t>
                      </a:r>
                    </a:p>
                  </a:txBody>
                  <a:tcPr anchor="ctr"/>
                </a:tc>
                <a:tc>
                  <a:txBody>
                    <a:bodyPr/>
                    <a:lstStyle/>
                    <a:p>
                      <a:r>
                        <a:rPr lang="en-IN" sz="1600" dirty="0"/>
                        <a:t>MDPI – Applied Sciences, 2025</a:t>
                      </a:r>
                    </a:p>
                  </a:txBody>
                  <a:tcPr/>
                </a:tc>
                <a:tc>
                  <a:txBody>
                    <a:bodyPr/>
                    <a:lstStyle/>
                    <a:p>
                      <a:pPr>
                        <a:buNone/>
                      </a:pPr>
                      <a:r>
                        <a:rPr lang="en-IN" sz="1600" dirty="0"/>
                        <a:t>Dual-encoder based U-Net architecture</a:t>
                      </a:r>
                    </a:p>
                  </a:txBody>
                  <a:tcPr anchor="ctr"/>
                </a:tc>
                <a:tc>
                  <a:txBody>
                    <a:bodyPr/>
                    <a:lstStyle/>
                    <a:p>
                      <a:pPr>
                        <a:buNone/>
                      </a:pPr>
                      <a:r>
                        <a:rPr lang="en-US" sz="1600" dirty="0"/>
                        <a:t>Improved segmentation of thin and narrow water boundaries</a:t>
                      </a:r>
                    </a:p>
                  </a:txBody>
                  <a:tcPr anchor="ctr"/>
                </a:tc>
                <a:tc>
                  <a:txBody>
                    <a:bodyPr/>
                    <a:lstStyle/>
                    <a:p>
                      <a:pPr>
                        <a:buNone/>
                      </a:pPr>
                      <a:r>
                        <a:rPr lang="en-US" sz="1600" dirty="0"/>
                        <a:t>Requires large dataset and high GPU resources</a:t>
                      </a:r>
                    </a:p>
                  </a:txBody>
                  <a:tcPr anchor="ctr"/>
                </a:tc>
                <a:extLst>
                  <a:ext uri="{0D108BD9-81ED-4DB2-BD59-A6C34878D82A}">
                    <a16:rowId xmlns:a16="http://schemas.microsoft.com/office/drawing/2014/main" val="680437349"/>
                  </a:ext>
                </a:extLst>
              </a:tr>
              <a:tr h="1028073">
                <a:tc>
                  <a:txBody>
                    <a:bodyPr/>
                    <a:lstStyle/>
                    <a:p>
                      <a:r>
                        <a:rPr lang="en-IN" sz="1600" dirty="0"/>
                        <a:t>2.</a:t>
                      </a:r>
                    </a:p>
                  </a:txBody>
                  <a:tcPr/>
                </a:tc>
                <a:tc>
                  <a:txBody>
                    <a:bodyPr/>
                    <a:lstStyle/>
                    <a:p>
                      <a:pPr>
                        <a:buNone/>
                      </a:pPr>
                      <a:r>
                        <a:rPr lang="en-US" sz="1600" dirty="0"/>
                        <a:t>Mapping and Monitoring Small Surface Water Bodies</a:t>
                      </a:r>
                    </a:p>
                  </a:txBody>
                  <a:tcPr anchor="ctr"/>
                </a:tc>
                <a:tc>
                  <a:txBody>
                    <a:bodyPr/>
                    <a:lstStyle/>
                    <a:p>
                      <a:pPr>
                        <a:buNone/>
                      </a:pPr>
                      <a:r>
                        <a:rPr lang="pt-BR" sz="1600" dirty="0"/>
                        <a:t>M.C. Chagas, A.P. Falcão, R.P. de Oliveira</a:t>
                      </a:r>
                    </a:p>
                  </a:txBody>
                  <a:tcPr anchor="ctr"/>
                </a:tc>
                <a:tc>
                  <a:txBody>
                    <a:bodyPr/>
                    <a:lstStyle/>
                    <a:p>
                      <a:pPr>
                        <a:buNone/>
                      </a:pPr>
                      <a:r>
                        <a:rPr lang="en-IN" sz="1600" b="0" dirty="0"/>
                        <a:t>MDPI – Remote Sensing, 2025</a:t>
                      </a:r>
                    </a:p>
                  </a:txBody>
                  <a:tcPr anchor="ctr"/>
                </a:tc>
                <a:tc>
                  <a:txBody>
                    <a:bodyPr/>
                    <a:lstStyle/>
                    <a:p>
                      <a:pPr>
                        <a:buNone/>
                      </a:pPr>
                      <a:r>
                        <a:rPr lang="en-US" sz="1600" dirty="0"/>
                        <a:t>Sentinel-based temporal and spectral index analysis</a:t>
                      </a:r>
                    </a:p>
                  </a:txBody>
                  <a:tcPr anchor="ctr"/>
                </a:tc>
                <a:tc>
                  <a:txBody>
                    <a:bodyPr/>
                    <a:lstStyle/>
                    <a:p>
                      <a:pPr>
                        <a:buNone/>
                      </a:pPr>
                      <a:r>
                        <a:rPr lang="en-US" sz="1600" dirty="0"/>
                        <a:t>Effective for small water body tracking over time</a:t>
                      </a:r>
                    </a:p>
                  </a:txBody>
                  <a:tcPr anchor="ctr"/>
                </a:tc>
                <a:tc>
                  <a:txBody>
                    <a:bodyPr/>
                    <a:lstStyle/>
                    <a:p>
                      <a:r>
                        <a:rPr lang="en-US" sz="1600" dirty="0"/>
                        <a:t>Needs manual preprocessing and lacks automation</a:t>
                      </a:r>
                      <a:endParaRPr lang="en-IN" sz="1600" dirty="0"/>
                    </a:p>
                  </a:txBody>
                  <a:tcPr/>
                </a:tc>
                <a:extLst>
                  <a:ext uri="{0D108BD9-81ED-4DB2-BD59-A6C34878D82A}">
                    <a16:rowId xmlns:a16="http://schemas.microsoft.com/office/drawing/2014/main" val="3300711368"/>
                  </a:ext>
                </a:extLst>
              </a:tr>
              <a:tr h="983332">
                <a:tc>
                  <a:txBody>
                    <a:bodyPr/>
                    <a:lstStyle/>
                    <a:p>
                      <a:r>
                        <a:rPr lang="en-IN" sz="1600" dirty="0"/>
                        <a:t>3.</a:t>
                      </a:r>
                    </a:p>
                  </a:txBody>
                  <a:tcPr/>
                </a:tc>
                <a:tc>
                  <a:txBody>
                    <a:bodyPr/>
                    <a:lstStyle/>
                    <a:p>
                      <a:pPr>
                        <a:buNone/>
                      </a:pPr>
                      <a:r>
                        <a:rPr lang="en-US" sz="1600" dirty="0"/>
                        <a:t>High-Precision Water Area Reconstruction Using Stereo Satellite Images</a:t>
                      </a:r>
                    </a:p>
                  </a:txBody>
                  <a:tcPr anchor="ctr"/>
                </a:tc>
                <a:tc>
                  <a:txBody>
                    <a:bodyPr/>
                    <a:lstStyle/>
                    <a:p>
                      <a:pPr>
                        <a:buNone/>
                      </a:pPr>
                      <a:r>
                        <a:rPr lang="nl-NL" sz="1600" dirty="0"/>
                        <a:t>J. Ye, R. Xu, Y. Wang, X. Huang</a:t>
                      </a:r>
                    </a:p>
                  </a:txBody>
                  <a:tcPr anchor="ctr"/>
                </a:tc>
                <a:tc>
                  <a:txBody>
                    <a:bodyPr/>
                    <a:lstStyle/>
                    <a:p>
                      <a:pPr>
                        <a:buNone/>
                      </a:pPr>
                      <a:r>
                        <a:rPr lang="en-IN" sz="1600" b="0" dirty="0"/>
                        <a:t>MDPI – Remote Sensing, 2025</a:t>
                      </a:r>
                    </a:p>
                  </a:txBody>
                  <a:tcPr anchor="ctr"/>
                </a:tc>
                <a:tc>
                  <a:txBody>
                    <a:bodyPr/>
                    <a:lstStyle/>
                    <a:p>
                      <a:pPr>
                        <a:buNone/>
                      </a:pPr>
                      <a:r>
                        <a:rPr lang="en-IN" sz="1600" dirty="0"/>
                        <a:t>Stereo-pair + semantic segmentation</a:t>
                      </a:r>
                    </a:p>
                  </a:txBody>
                  <a:tcPr anchor="ctr"/>
                </a:tc>
                <a:tc>
                  <a:txBody>
                    <a:bodyPr/>
                    <a:lstStyle/>
                    <a:p>
                      <a:pPr>
                        <a:buNone/>
                      </a:pPr>
                      <a:r>
                        <a:rPr lang="en-US" sz="1600" dirty="0"/>
                        <a:t>High accuracy in urban and vegetation-dense scenes</a:t>
                      </a:r>
                    </a:p>
                  </a:txBody>
                  <a:tcPr anchor="ctr"/>
                </a:tc>
                <a:tc>
                  <a:txBody>
                    <a:bodyPr/>
                    <a:lstStyle/>
                    <a:p>
                      <a:pPr>
                        <a:buNone/>
                      </a:pPr>
                      <a:r>
                        <a:rPr lang="en-US" sz="1600" dirty="0"/>
                        <a:t>Complex model → hard for real-time deployment</a:t>
                      </a:r>
                    </a:p>
                  </a:txBody>
                  <a:tcPr anchor="ctr"/>
                </a:tc>
                <a:extLst>
                  <a:ext uri="{0D108BD9-81ED-4DB2-BD59-A6C34878D82A}">
                    <a16:rowId xmlns:a16="http://schemas.microsoft.com/office/drawing/2014/main" val="381423767"/>
                  </a:ext>
                </a:extLst>
              </a:tr>
              <a:tr h="1430361">
                <a:tc>
                  <a:txBody>
                    <a:bodyPr/>
                    <a:lstStyle/>
                    <a:p>
                      <a:r>
                        <a:rPr lang="en-IN" sz="1600" dirty="0"/>
                        <a:t>4.</a:t>
                      </a:r>
                    </a:p>
                  </a:txBody>
                  <a:tcPr/>
                </a:tc>
                <a:tc>
                  <a:txBody>
                    <a:bodyPr/>
                    <a:lstStyle/>
                    <a:p>
                      <a:pPr>
                        <a:buNone/>
                      </a:pPr>
                      <a:r>
                        <a:rPr lang="en-US" sz="1600" dirty="0"/>
                        <a:t>Hybrid Deep Learning for Accurate Water Body Segmentation</a:t>
                      </a:r>
                    </a:p>
                  </a:txBody>
                  <a:tcPr anchor="ctr"/>
                </a:tc>
                <a:tc>
                  <a:txBody>
                    <a:bodyPr/>
                    <a:lstStyle/>
                    <a:p>
                      <a:pPr>
                        <a:buNone/>
                      </a:pPr>
                      <a:r>
                        <a:rPr lang="en-IN" sz="1600" dirty="0"/>
                        <a:t>M. </a:t>
                      </a:r>
                      <a:r>
                        <a:rPr lang="en-IN" sz="1600" dirty="0" err="1"/>
                        <a:t>Attya</a:t>
                      </a:r>
                      <a:r>
                        <a:rPr lang="en-IN" sz="1600" dirty="0"/>
                        <a:t> et al.</a:t>
                      </a:r>
                    </a:p>
                  </a:txBody>
                  <a:tcPr anchor="ctr"/>
                </a:tc>
                <a:tc>
                  <a:txBody>
                    <a:bodyPr/>
                    <a:lstStyle/>
                    <a:p>
                      <a:pPr>
                        <a:buNone/>
                      </a:pPr>
                      <a:r>
                        <a:rPr lang="en-US" sz="1600" b="0" dirty="0"/>
                        <a:t>Springer – Earth Science Informatics, 2025</a:t>
                      </a:r>
                    </a:p>
                  </a:txBody>
                  <a:tcPr anchor="ctr"/>
                </a:tc>
                <a:tc>
                  <a:txBody>
                    <a:bodyPr/>
                    <a:lstStyle/>
                    <a:p>
                      <a:pPr>
                        <a:buNone/>
                      </a:pPr>
                      <a:r>
                        <a:rPr lang="en-IN" sz="1600" dirty="0"/>
                        <a:t>CNN with attention mechanisms</a:t>
                      </a:r>
                    </a:p>
                  </a:txBody>
                  <a:tcPr anchor="ctr"/>
                </a:tc>
                <a:tc>
                  <a:txBody>
                    <a:bodyPr/>
                    <a:lstStyle/>
                    <a:p>
                      <a:pPr>
                        <a:buNone/>
                      </a:pPr>
                      <a:r>
                        <a:rPr lang="en-US" sz="1600" dirty="0"/>
                        <a:t>Accurate segmentation even with reflection and shadow noise</a:t>
                      </a:r>
                    </a:p>
                  </a:txBody>
                  <a:tcPr anchor="ctr"/>
                </a:tc>
                <a:tc>
                  <a:txBody>
                    <a:bodyPr/>
                    <a:lstStyle/>
                    <a:p>
                      <a:pPr>
                        <a:buNone/>
                      </a:pPr>
                      <a:r>
                        <a:rPr lang="en-US" sz="1600" dirty="0"/>
                        <a:t>Computationally heavy; requires advanced hardware</a:t>
                      </a:r>
                    </a:p>
                  </a:txBody>
                  <a:tcPr anchor="ctr"/>
                </a:tc>
                <a:extLst>
                  <a:ext uri="{0D108BD9-81ED-4DB2-BD59-A6C34878D82A}">
                    <a16:rowId xmlns:a16="http://schemas.microsoft.com/office/drawing/2014/main" val="3569092360"/>
                  </a:ext>
                </a:extLst>
              </a:tr>
            </a:tbl>
          </a:graphicData>
        </a:graphic>
      </p:graphicFrame>
    </p:spTree>
    <p:extLst>
      <p:ext uri="{BB962C8B-B14F-4D97-AF65-F5344CB8AC3E}">
        <p14:creationId xmlns:p14="http://schemas.microsoft.com/office/powerpoint/2010/main" val="671723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009409" y="681037"/>
            <a:ext cx="10173182" cy="56215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No.01         Batch No. AB5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6</a:t>
            </a:fld>
            <a:endParaRPr lang="en-US">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a16="http://schemas.microsoft.com/office/drawing/2014/main" id="{3E8CACDC-CE1B-448A-5D5F-BF4D715F95AE}"/>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35629362-0EB9-77CE-0586-655B2603593B}"/>
              </a:ext>
            </a:extLst>
          </p:cNvPr>
          <p:cNvGraphicFramePr>
            <a:graphicFrameLocks noGrp="1"/>
          </p:cNvGraphicFramePr>
          <p:nvPr>
            <p:extLst>
              <p:ext uri="{D42A27DB-BD31-4B8C-83A1-F6EECF244321}">
                <p14:modId xmlns:p14="http://schemas.microsoft.com/office/powerpoint/2010/main" val="3618246904"/>
              </p:ext>
            </p:extLst>
          </p:nvPr>
        </p:nvGraphicFramePr>
        <p:xfrm>
          <a:off x="221344" y="1198422"/>
          <a:ext cx="11749311" cy="5005075"/>
        </p:xfrm>
        <a:graphic>
          <a:graphicData uri="http://schemas.openxmlformats.org/drawingml/2006/table">
            <a:tbl>
              <a:tblPr firstRow="1" bandRow="1">
                <a:tableStyleId>{5C22544A-7EE6-4342-B048-85BDC9FD1C3A}</a:tableStyleId>
              </a:tblPr>
              <a:tblGrid>
                <a:gridCol w="670379">
                  <a:extLst>
                    <a:ext uri="{9D8B030D-6E8A-4147-A177-3AD203B41FA5}">
                      <a16:colId xmlns:a16="http://schemas.microsoft.com/office/drawing/2014/main" val="2799915531"/>
                    </a:ext>
                  </a:extLst>
                </a:gridCol>
                <a:gridCol w="2686567">
                  <a:extLst>
                    <a:ext uri="{9D8B030D-6E8A-4147-A177-3AD203B41FA5}">
                      <a16:colId xmlns:a16="http://schemas.microsoft.com/office/drawing/2014/main" val="2736906872"/>
                    </a:ext>
                  </a:extLst>
                </a:gridCol>
                <a:gridCol w="1420068">
                  <a:extLst>
                    <a:ext uri="{9D8B030D-6E8A-4147-A177-3AD203B41FA5}">
                      <a16:colId xmlns:a16="http://schemas.microsoft.com/office/drawing/2014/main" val="1467406104"/>
                    </a:ext>
                  </a:extLst>
                </a:gridCol>
                <a:gridCol w="1681843">
                  <a:extLst>
                    <a:ext uri="{9D8B030D-6E8A-4147-A177-3AD203B41FA5}">
                      <a16:colId xmlns:a16="http://schemas.microsoft.com/office/drawing/2014/main" val="3598107091"/>
                    </a:ext>
                  </a:extLst>
                </a:gridCol>
                <a:gridCol w="1738993">
                  <a:extLst>
                    <a:ext uri="{9D8B030D-6E8A-4147-A177-3AD203B41FA5}">
                      <a16:colId xmlns:a16="http://schemas.microsoft.com/office/drawing/2014/main" val="1106301216"/>
                    </a:ext>
                  </a:extLst>
                </a:gridCol>
                <a:gridCol w="1872988">
                  <a:extLst>
                    <a:ext uri="{9D8B030D-6E8A-4147-A177-3AD203B41FA5}">
                      <a16:colId xmlns:a16="http://schemas.microsoft.com/office/drawing/2014/main" val="2316277987"/>
                    </a:ext>
                  </a:extLst>
                </a:gridCol>
                <a:gridCol w="1678473">
                  <a:extLst>
                    <a:ext uri="{9D8B030D-6E8A-4147-A177-3AD203B41FA5}">
                      <a16:colId xmlns:a16="http://schemas.microsoft.com/office/drawing/2014/main" val="4097783982"/>
                    </a:ext>
                  </a:extLst>
                </a:gridCol>
              </a:tblGrid>
              <a:tr h="620071">
                <a:tc>
                  <a:txBody>
                    <a:bodyPr/>
                    <a:lstStyle/>
                    <a:p>
                      <a:r>
                        <a:rPr lang="en-IN" dirty="0" err="1"/>
                        <a:t>sno</a:t>
                      </a:r>
                      <a:endParaRPr lang="en-IN" dirty="0"/>
                    </a:p>
                  </a:txBody>
                  <a:tcPr/>
                </a:tc>
                <a:tc>
                  <a:txBody>
                    <a:bodyPr/>
                    <a:lstStyle/>
                    <a:p>
                      <a:r>
                        <a:rPr lang="en-IN" dirty="0"/>
                        <a:t>Title</a:t>
                      </a:r>
                    </a:p>
                  </a:txBody>
                  <a:tcPr/>
                </a:tc>
                <a:tc>
                  <a:txBody>
                    <a:bodyPr/>
                    <a:lstStyle/>
                    <a:p>
                      <a:r>
                        <a:rPr lang="en-IN" dirty="0"/>
                        <a:t>Author</a:t>
                      </a:r>
                    </a:p>
                  </a:txBody>
                  <a:tcPr/>
                </a:tc>
                <a:tc>
                  <a:txBody>
                    <a:bodyPr/>
                    <a:lstStyle/>
                    <a:p>
                      <a:r>
                        <a:rPr lang="en-IN" dirty="0"/>
                        <a:t>Publication and year</a:t>
                      </a:r>
                    </a:p>
                  </a:txBody>
                  <a:tcPr/>
                </a:tc>
                <a:tc>
                  <a:txBody>
                    <a:bodyPr/>
                    <a:lstStyle/>
                    <a:p>
                      <a:r>
                        <a:rPr lang="en-IN" dirty="0"/>
                        <a:t>methodology</a:t>
                      </a:r>
                    </a:p>
                  </a:txBody>
                  <a:tcPr/>
                </a:tc>
                <a:tc>
                  <a:txBody>
                    <a:bodyPr/>
                    <a:lstStyle/>
                    <a:p>
                      <a:r>
                        <a:rPr lang="en-IN" dirty="0"/>
                        <a:t>Key findings</a:t>
                      </a:r>
                    </a:p>
                  </a:txBody>
                  <a:tcPr/>
                </a:tc>
                <a:tc>
                  <a:txBody>
                    <a:bodyPr/>
                    <a:lstStyle/>
                    <a:p>
                      <a:r>
                        <a:rPr lang="en-IN" dirty="0"/>
                        <a:t>Gaps identified</a:t>
                      </a:r>
                    </a:p>
                  </a:txBody>
                  <a:tcPr/>
                </a:tc>
                <a:extLst>
                  <a:ext uri="{0D108BD9-81ED-4DB2-BD59-A6C34878D82A}">
                    <a16:rowId xmlns:a16="http://schemas.microsoft.com/office/drawing/2014/main" val="2966936263"/>
                  </a:ext>
                </a:extLst>
              </a:tr>
              <a:tr h="1151561">
                <a:tc>
                  <a:txBody>
                    <a:bodyPr/>
                    <a:lstStyle/>
                    <a:p>
                      <a:r>
                        <a:rPr lang="en-IN" dirty="0"/>
                        <a:t>5</a:t>
                      </a:r>
                    </a:p>
                  </a:txBody>
                  <a:tcPr/>
                </a:tc>
                <a:tc>
                  <a:txBody>
                    <a:bodyPr/>
                    <a:lstStyle/>
                    <a:p>
                      <a:pPr>
                        <a:buNone/>
                      </a:pPr>
                      <a:r>
                        <a:rPr lang="en-US" dirty="0" err="1"/>
                        <a:t>SDNet</a:t>
                      </a:r>
                      <a:r>
                        <a:rPr lang="en-US" dirty="0"/>
                        <a:t>: Sandwich Decoder Network for Waterbody Segmentation</a:t>
                      </a:r>
                    </a:p>
                  </a:txBody>
                  <a:tcPr anchor="ctr"/>
                </a:tc>
                <a:tc>
                  <a:txBody>
                    <a:bodyPr/>
                    <a:lstStyle/>
                    <a:p>
                      <a:pPr>
                        <a:buNone/>
                      </a:pPr>
                      <a:r>
                        <a:rPr lang="it-IT" dirty="0"/>
                        <a:t>H. Ni, J. Li, C. Wang</a:t>
                      </a:r>
                    </a:p>
                  </a:txBody>
                  <a:tcPr anchor="ctr"/>
                </a:tc>
                <a:tc>
                  <a:txBody>
                    <a:bodyPr/>
                    <a:lstStyle/>
                    <a:p>
                      <a:pPr>
                        <a:buNone/>
                      </a:pPr>
                      <a:r>
                        <a:rPr lang="en-IN" b="0" dirty="0"/>
                        <a:t>IEEE – JSTARS, 2025</a:t>
                      </a:r>
                    </a:p>
                  </a:txBody>
                  <a:tcPr anchor="ctr"/>
                </a:tc>
                <a:tc>
                  <a:txBody>
                    <a:bodyPr/>
                    <a:lstStyle/>
                    <a:p>
                      <a:pPr>
                        <a:buNone/>
                      </a:pPr>
                      <a:r>
                        <a:rPr lang="en-IN" dirty="0"/>
                        <a:t>Multi-path decoder network</a:t>
                      </a:r>
                    </a:p>
                  </a:txBody>
                  <a:tcPr anchor="ctr"/>
                </a:tc>
                <a:tc>
                  <a:txBody>
                    <a:bodyPr/>
                    <a:lstStyle/>
                    <a:p>
                      <a:pPr>
                        <a:buNone/>
                      </a:pPr>
                      <a:r>
                        <a:rPr lang="en-US" dirty="0"/>
                        <a:t>Achieves high edge preservation and segmentation clarity</a:t>
                      </a:r>
                    </a:p>
                  </a:txBody>
                  <a:tcPr anchor="ctr"/>
                </a:tc>
                <a:tc>
                  <a:txBody>
                    <a:bodyPr/>
                    <a:lstStyle/>
                    <a:p>
                      <a:pPr>
                        <a:buNone/>
                      </a:pPr>
                      <a:r>
                        <a:rPr lang="en-US" dirty="0"/>
                        <a:t>Training is slow and resource-intensive</a:t>
                      </a:r>
                    </a:p>
                  </a:txBody>
                  <a:tcPr anchor="ctr"/>
                </a:tc>
                <a:extLst>
                  <a:ext uri="{0D108BD9-81ED-4DB2-BD59-A6C34878D82A}">
                    <a16:rowId xmlns:a16="http://schemas.microsoft.com/office/drawing/2014/main" val="842222772"/>
                  </a:ext>
                </a:extLst>
              </a:tr>
              <a:tr h="1164595">
                <a:tc>
                  <a:txBody>
                    <a:bodyPr/>
                    <a:lstStyle/>
                    <a:p>
                      <a:r>
                        <a:rPr lang="en-IN" dirty="0"/>
                        <a:t>6</a:t>
                      </a:r>
                    </a:p>
                  </a:txBody>
                  <a:tcPr/>
                </a:tc>
                <a:tc>
                  <a:txBody>
                    <a:bodyPr/>
                    <a:lstStyle/>
                    <a:p>
                      <a:pPr>
                        <a:buNone/>
                      </a:pPr>
                      <a:r>
                        <a:rPr lang="en-US" dirty="0"/>
                        <a:t>Segmentation of Flooded Regions using U-Net and SAR Imagery</a:t>
                      </a:r>
                    </a:p>
                  </a:txBody>
                  <a:tcPr anchor="ctr"/>
                </a:tc>
                <a:tc>
                  <a:txBody>
                    <a:bodyPr/>
                    <a:lstStyle/>
                    <a:p>
                      <a:pPr>
                        <a:buNone/>
                      </a:pPr>
                      <a:r>
                        <a:rPr lang="en-IN" dirty="0"/>
                        <a:t>F. Pech-May et al.</a:t>
                      </a:r>
                    </a:p>
                  </a:txBody>
                  <a:tcPr anchor="ctr"/>
                </a:tc>
                <a:tc>
                  <a:txBody>
                    <a:bodyPr/>
                    <a:lstStyle/>
                    <a:p>
                      <a:pPr>
                        <a:buNone/>
                      </a:pPr>
                      <a:r>
                        <a:rPr lang="en-IN" b="0" dirty="0"/>
                        <a:t>IEEE – JSTARS, 2024</a:t>
                      </a:r>
                    </a:p>
                  </a:txBody>
                  <a:tcPr anchor="ctr"/>
                </a:tc>
                <a:tc>
                  <a:txBody>
                    <a:bodyPr/>
                    <a:lstStyle/>
                    <a:p>
                      <a:pPr>
                        <a:buNone/>
                      </a:pPr>
                      <a:r>
                        <a:rPr lang="fr-FR" dirty="0"/>
                        <a:t>U-Net on Sentinel-1 SAR images</a:t>
                      </a:r>
                    </a:p>
                  </a:txBody>
                  <a:tcPr anchor="ctr"/>
                </a:tc>
                <a:tc>
                  <a:txBody>
                    <a:bodyPr/>
                    <a:lstStyle/>
                    <a:p>
                      <a:pPr>
                        <a:buNone/>
                      </a:pPr>
                      <a:r>
                        <a:rPr lang="en-US" dirty="0"/>
                        <a:t>Works well for flood detection in cloudy conditions</a:t>
                      </a:r>
                    </a:p>
                  </a:txBody>
                  <a:tcPr anchor="ctr"/>
                </a:tc>
                <a:tc>
                  <a:txBody>
                    <a:bodyPr/>
                    <a:lstStyle/>
                    <a:p>
                      <a:pPr>
                        <a:buNone/>
                      </a:pPr>
                      <a:r>
                        <a:rPr lang="en-IN" dirty="0"/>
                        <a:t>SAR data preprocessing is complex</a:t>
                      </a:r>
                    </a:p>
                  </a:txBody>
                  <a:tcPr anchor="ctr"/>
                </a:tc>
                <a:extLst>
                  <a:ext uri="{0D108BD9-81ED-4DB2-BD59-A6C34878D82A}">
                    <a16:rowId xmlns:a16="http://schemas.microsoft.com/office/drawing/2014/main" val="1814965767"/>
                  </a:ext>
                </a:extLst>
              </a:tr>
              <a:tr h="1948795">
                <a:tc>
                  <a:txBody>
                    <a:bodyPr/>
                    <a:lstStyle/>
                    <a:p>
                      <a:r>
                        <a:rPr lang="en-IN" dirty="0"/>
                        <a:t>7</a:t>
                      </a:r>
                    </a:p>
                  </a:txBody>
                  <a:tcPr/>
                </a:tc>
                <a:tc>
                  <a:txBody>
                    <a:bodyPr/>
                    <a:lstStyle/>
                    <a:p>
                      <a:pPr>
                        <a:buNone/>
                      </a:pPr>
                      <a:r>
                        <a:rPr lang="en-US" dirty="0"/>
                        <a:t>Extraction of Water Bodies from High-Resolution Aerial and Satellite Images Using Visual Foundation Models</a:t>
                      </a:r>
                    </a:p>
                  </a:txBody>
                  <a:tcPr anchor="ctr"/>
                </a:tc>
                <a:tc>
                  <a:txBody>
                    <a:bodyPr/>
                    <a:lstStyle/>
                    <a:p>
                      <a:pPr>
                        <a:buNone/>
                      </a:pPr>
                      <a:r>
                        <a:rPr lang="en-IN" dirty="0"/>
                        <a:t>S. Ozdemir, Z. Akbulut, F. Karsli, T. </a:t>
                      </a:r>
                      <a:r>
                        <a:rPr lang="en-IN" dirty="0" err="1"/>
                        <a:t>Kavzoglu</a:t>
                      </a:r>
                      <a:endParaRPr lang="en-IN" dirty="0"/>
                    </a:p>
                  </a:txBody>
                  <a:tcPr anchor="ctr"/>
                </a:tc>
                <a:tc>
                  <a:txBody>
                    <a:bodyPr/>
                    <a:lstStyle/>
                    <a:p>
                      <a:pPr>
                        <a:buNone/>
                      </a:pPr>
                      <a:r>
                        <a:rPr lang="en-IN" b="0" dirty="0"/>
                        <a:t>MDPI – Sustainability, 2024</a:t>
                      </a:r>
                    </a:p>
                  </a:txBody>
                  <a:tcPr anchor="ctr"/>
                </a:tc>
                <a:tc>
                  <a:txBody>
                    <a:bodyPr/>
                    <a:lstStyle/>
                    <a:p>
                      <a:pPr>
                        <a:buNone/>
                      </a:pPr>
                      <a:r>
                        <a:rPr lang="en-US" dirty="0"/>
                        <a:t>Used CLIP-based Visual Foundation Model and SAM (Segment Anything Model)</a:t>
                      </a:r>
                    </a:p>
                  </a:txBody>
                  <a:tcPr anchor="ctr"/>
                </a:tc>
                <a:tc>
                  <a:txBody>
                    <a:bodyPr/>
                    <a:lstStyle/>
                    <a:p>
                      <a:pPr>
                        <a:buNone/>
                      </a:pPr>
                      <a:r>
                        <a:rPr lang="en-US" b="0" dirty="0"/>
                        <a:t>Achieved 94.41% segmentation accuracy across mixed land surfaces</a:t>
                      </a:r>
                    </a:p>
                  </a:txBody>
                  <a:tcPr anchor="ctr"/>
                </a:tc>
                <a:tc>
                  <a:txBody>
                    <a:bodyPr/>
                    <a:lstStyle/>
                    <a:p>
                      <a:pPr>
                        <a:buNone/>
                      </a:pPr>
                      <a:r>
                        <a:rPr lang="en-US" dirty="0"/>
                        <a:t>Requires high-quality images; performance decreases on low-resolution satellite data</a:t>
                      </a:r>
                    </a:p>
                  </a:txBody>
                  <a:tcPr anchor="ctr"/>
                </a:tc>
                <a:extLst>
                  <a:ext uri="{0D108BD9-81ED-4DB2-BD59-A6C34878D82A}">
                    <a16:rowId xmlns:a16="http://schemas.microsoft.com/office/drawing/2014/main" val="1814774353"/>
                  </a:ext>
                </a:extLst>
              </a:tr>
            </a:tbl>
          </a:graphicData>
        </a:graphic>
      </p:graphicFrame>
    </p:spTree>
    <p:extLst>
      <p:ext uri="{BB962C8B-B14F-4D97-AF65-F5344CB8AC3E}">
        <p14:creationId xmlns:p14="http://schemas.microsoft.com/office/powerpoint/2010/main" val="403327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571018" y="381884"/>
            <a:ext cx="10173182" cy="1128009"/>
          </a:xfrm>
        </p:spPr>
        <p:txBody>
          <a:bodyPr>
            <a:normAutofit/>
          </a:bodyPr>
          <a:lstStyle/>
          <a:p>
            <a:pPr algn="ctr"/>
            <a:r>
              <a:rPr lang="en-US" b="1">
                <a:latin typeface="Times New Roman" panose="02020603050405020304" pitchFamily="18" charset="0"/>
                <a:cs typeface="Times New Roman" panose="02020603050405020304" pitchFamily="18" charset="0"/>
              </a:rPr>
              <a:t>RESEARCH GAPS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No.01         Batch No. AB5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72A25940-8554-0B7C-F33C-78319F3059C3}"/>
              </a:ext>
            </a:extLst>
          </p:cNvPr>
          <p:cNvSpPr>
            <a:spLocks noGrp="1" noChangeArrowheads="1"/>
          </p:cNvSpPr>
          <p:nvPr>
            <p:ph idx="1"/>
          </p:nvPr>
        </p:nvSpPr>
        <p:spPr bwMode="auto">
          <a:xfrm>
            <a:off x="1481924" y="1509893"/>
            <a:ext cx="9262276"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panose="020B0604020202020204" pitchFamily="34" charset="0"/>
              </a:rPr>
              <a:t>Large and Diverse Data</a:t>
            </a:r>
          </a:p>
          <a:p>
            <a:pPr marL="0" lvl="0" indent="0" eaLnBrk="0" fontAlgn="base" hangingPunct="0">
              <a:lnSpc>
                <a:spcPct val="100000"/>
              </a:lnSpc>
              <a:spcBef>
                <a:spcPct val="0"/>
              </a:spcBef>
              <a:spcAft>
                <a:spcPct val="0"/>
              </a:spcAft>
              <a:buNone/>
            </a:pPr>
            <a:r>
              <a:rPr lang="en-US" sz="2400" dirty="0"/>
              <a:t>Many existing water body segmentation methods depend on large, diverse, and high-quality datasets. However, such datasets are not always easily available, which limits scalability, reduces generalization, and affects real-world applicability.</a:t>
            </a:r>
          </a:p>
          <a:p>
            <a:pPr marL="0" lvl="0" indent="0" eaLnBrk="0" fontAlgn="base" hangingPunct="0">
              <a:lnSpc>
                <a:spcPct val="100000"/>
              </a:lnSpc>
              <a:spcBef>
                <a:spcPct val="0"/>
              </a:spcBef>
              <a:spcAft>
                <a:spcPct val="0"/>
              </a:spcAft>
              <a:buNone/>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2400" b="1" dirty="0">
                <a:latin typeface="Arial" panose="020B0604020202020204" pitchFamily="34" charset="0"/>
              </a:rPr>
              <a:t>Complex models</a:t>
            </a:r>
          </a:p>
          <a:p>
            <a:pPr marL="0" lvl="0" indent="0" eaLnBrk="0" fontAlgn="base" hangingPunct="0">
              <a:lnSpc>
                <a:spcPct val="100000"/>
              </a:lnSpc>
              <a:spcBef>
                <a:spcPct val="0"/>
              </a:spcBef>
              <a:spcAft>
                <a:spcPct val="0"/>
              </a:spcAft>
              <a:buNone/>
            </a:pPr>
            <a:r>
              <a:rPr lang="en-US" sz="2400" dirty="0"/>
              <a:t>Several advanced deep learning models used for water body segmentation are highly complex and computationally expensive, making them difficult to train, requiring powerful hardware, and limiting real-time deployment in practical field environments.</a:t>
            </a:r>
            <a:endParaRPr kumimoji="0" lang="en-US" altLang="en-US" sz="24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13168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a:latin typeface="Times New Roman" panose="02020603050405020304" pitchFamily="18" charset="0"/>
                <a:cs typeface="Times New Roman" panose="02020603050405020304" pitchFamily="18" charset="0"/>
              </a:rPr>
              <a:t>PROBLEM STATEMENT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2543754" y="2063077"/>
            <a:ext cx="7254551" cy="3709569"/>
          </a:xfrm>
        </p:spPr>
        <p:txBody>
          <a:bodyPr>
            <a:noAutofit/>
          </a:bodyPr>
          <a:lstStyle/>
          <a:p>
            <a:pPr marL="0" indent="0" algn="just">
              <a:buNone/>
            </a:pPr>
            <a:r>
              <a:rPr lang="en-US" sz="2400" dirty="0"/>
              <a:t>Accurate identification of water bodies from satellite imagery remains challenging due to variations in landscape, water color, shadows, and seasonal changes. Traditional methods are slow and less reliable, while existing deep learning models often require large datasets and high computational resources. Therefore, there is a need for an efficient and accurate approach for water body extraction that performs well across diverse terrains.</a:t>
            </a:r>
            <a:endParaRPr lang="en-US" sz="2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10-11-2025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No.01         Batch No. AB5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8</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9738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OBJECTIVES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No.01         Batch No. AB5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9</a:t>
            </a:fld>
            <a:endParaRPr lang="en-US">
              <a:latin typeface="Times New Roman" panose="02020603050405020304" pitchFamily="18" charset="0"/>
              <a:cs typeface="Times New Roman" panose="02020603050405020304" pitchFamily="18" charset="0"/>
            </a:endParaRPr>
          </a:p>
        </p:txBody>
      </p:sp>
      <p:sp>
        <p:nvSpPr>
          <p:cNvPr id="4" name="Content Placeholder 1">
            <a:extLst>
              <a:ext uri="{FF2B5EF4-FFF2-40B4-BE49-F238E27FC236}">
                <a16:creationId xmlns:a16="http://schemas.microsoft.com/office/drawing/2014/main" id="{E45A4CE6-C897-E758-2544-E17734AF020D}"/>
              </a:ext>
            </a:extLst>
          </p:cNvPr>
          <p:cNvSpPr>
            <a:spLocks noGrp="1" noChangeArrowheads="1"/>
          </p:cNvSpPr>
          <p:nvPr>
            <p:ph idx="1"/>
          </p:nvPr>
        </p:nvSpPr>
        <p:spPr bwMode="auto">
          <a:xfrm>
            <a:off x="1540087" y="1905506"/>
            <a:ext cx="9454243"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Arial" panose="020B0604020202020204" pitchFamily="34" charset="0"/>
              </a:rPr>
              <a:t>To utilize minimal and efficiently selected training data</a:t>
            </a:r>
            <a:r>
              <a:rPr kumimoji="0" lang="en-US" altLang="en-US" sz="2400" b="0" i="0" u="none" strike="noStrike" cap="none" normalizeH="0" baseline="0" dirty="0">
                <a:ln>
                  <a:noFill/>
                </a:ln>
                <a:solidFill>
                  <a:schemeClr val="tx1"/>
                </a:solidFill>
                <a:effectLst/>
                <a:latin typeface="Arial" panose="020B0604020202020204" pitchFamily="34" charset="0"/>
              </a:rPr>
              <a:t> while still enabling the model to learn meaningful water body patterns.</a:t>
            </a:r>
          </a:p>
          <a:p>
            <a:pPr marL="342900" indent="-342900" eaLnBrk="0" fontAlgn="base" hangingPunct="0">
              <a:lnSpc>
                <a:spcPct val="100000"/>
              </a:lnSpc>
              <a:spcBef>
                <a:spcPct val="0"/>
              </a:spcBef>
              <a:spcAft>
                <a:spcPct val="0"/>
              </a:spcAft>
              <a:buFont typeface="+mj-lt"/>
              <a:buAutoNum type="arabicPeriod"/>
            </a:pPr>
            <a:r>
              <a:rPr lang="en-US" altLang="en-US" sz="2400" b="1" dirty="0">
                <a:latin typeface="Arial" panose="020B0604020202020204" pitchFamily="34" charset="0"/>
              </a:rPr>
              <a:t>To develop a simpler and non-complex model        architecture</a:t>
            </a:r>
            <a:r>
              <a:rPr lang="en-US" altLang="en-US" sz="2400" dirty="0">
                <a:latin typeface="Arial" panose="020B0604020202020204" pitchFamily="34" charset="0"/>
              </a:rPr>
              <a:t> that reduces computational cost and supports easier real-time deployment.</a:t>
            </a:r>
          </a:p>
          <a:p>
            <a:pPr marL="342900" indent="-342900" eaLnBrk="0" fontAlgn="base" hangingPunct="0">
              <a:lnSpc>
                <a:spcPct val="100000"/>
              </a:lnSpc>
              <a:spcBef>
                <a:spcPct val="0"/>
              </a:spcBef>
              <a:spcAft>
                <a:spcPct val="0"/>
              </a:spcAft>
              <a:buFont typeface="+mj-lt"/>
              <a:buAutoNum type="arabicPeriod"/>
            </a:pPr>
            <a:r>
              <a:rPr lang="en-US" altLang="en-US" sz="2400" b="1" dirty="0">
                <a:latin typeface="Arial" panose="020B0604020202020204" pitchFamily="34" charset="0"/>
              </a:rPr>
              <a:t>To achieve high segmentation accuracy and reliable results</a:t>
            </a:r>
            <a:r>
              <a:rPr lang="en-US" altLang="en-US" sz="2400" dirty="0">
                <a:latin typeface="Arial" panose="020B0604020202020204" pitchFamily="34" charset="0"/>
              </a:rPr>
              <a:t> in detecting diverse water bodies across varying landscapes using the optimized model.</a:t>
            </a:r>
          </a:p>
        </p:txBody>
      </p:sp>
    </p:spTree>
    <p:extLst>
      <p:ext uri="{BB962C8B-B14F-4D97-AF65-F5344CB8AC3E}">
        <p14:creationId xmlns:p14="http://schemas.microsoft.com/office/powerpoint/2010/main" val="112123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a:latin typeface="Times New Roman" panose="02020603050405020304" pitchFamily="18" charset="0"/>
                <a:cs typeface="Times New Roman" panose="02020603050405020304" pitchFamily="18" charset="0"/>
              </a:rPr>
              <a:t>METHODOLOGY</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No.01         Batch No. AB5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E11839D7-C322-78C3-230F-3B6D4C28B0D0}"/>
              </a:ext>
            </a:extLst>
          </p:cNvPr>
          <p:cNvSpPr>
            <a:spLocks noGrp="1" noChangeArrowheads="1"/>
          </p:cNvSpPr>
          <p:nvPr>
            <p:ph idx="1"/>
          </p:nvPr>
        </p:nvSpPr>
        <p:spPr bwMode="auto">
          <a:xfrm>
            <a:off x="1180618" y="2216079"/>
            <a:ext cx="6352956" cy="2547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IN" sz="2400" dirty="0"/>
              <a:t>This current research work involves in typical Machine learning workflow simply as mentioned in the image side way that includes Data Collection, Data Preprocessing , model Training ,Evolution and prediction</a:t>
            </a:r>
          </a:p>
          <a:p>
            <a:pPr marL="0" indent="0">
              <a:buNone/>
            </a:pPr>
            <a:r>
              <a:rPr lang="en-IN" sz="2400" dirty="0"/>
              <a:t>Each steps are furtherly elaborated in detailed in the upcoming slides </a:t>
            </a:r>
          </a:p>
        </p:txBody>
      </p:sp>
      <p:pic>
        <p:nvPicPr>
          <p:cNvPr id="10" name="Picture 9">
            <a:extLst>
              <a:ext uri="{FF2B5EF4-FFF2-40B4-BE49-F238E27FC236}">
                <a16:creationId xmlns:a16="http://schemas.microsoft.com/office/drawing/2014/main" id="{71635600-4299-C1EB-03E3-72117E7EBE9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855836" y="365125"/>
            <a:ext cx="3066267" cy="6249272"/>
          </a:xfrm>
          <a:prstGeom prst="rect">
            <a:avLst/>
          </a:prstGeom>
        </p:spPr>
      </p:pic>
    </p:spTree>
    <p:extLst>
      <p:ext uri="{BB962C8B-B14F-4D97-AF65-F5344CB8AC3E}">
        <p14:creationId xmlns:p14="http://schemas.microsoft.com/office/powerpoint/2010/main" val="1488576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No.01         Batch No. AB5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E11839D7-C322-78C3-230F-3B6D4C28B0D0}"/>
              </a:ext>
            </a:extLst>
          </p:cNvPr>
          <p:cNvSpPr>
            <a:spLocks noGrp="1" noChangeArrowheads="1"/>
          </p:cNvSpPr>
          <p:nvPr>
            <p:ph idx="1"/>
          </p:nvPr>
        </p:nvSpPr>
        <p:spPr bwMode="auto">
          <a:xfrm>
            <a:off x="583708" y="1209683"/>
            <a:ext cx="7773113" cy="5107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IN" sz="2400" b="1" dirty="0"/>
              <a:t>Data Collection:</a:t>
            </a:r>
          </a:p>
          <a:p>
            <a:pPr marL="0" indent="0">
              <a:buNone/>
            </a:pPr>
            <a:r>
              <a:rPr lang="en-IN" sz="2400" dirty="0"/>
              <a:t>As </a:t>
            </a:r>
            <a:r>
              <a:rPr lang="en-IN" sz="2400" dirty="0" err="1"/>
              <a:t>satilite</a:t>
            </a:r>
            <a:r>
              <a:rPr lang="en-IN" sz="2400" dirty="0"/>
              <a:t> images are sensitive information most of the websites/organizations doesn’t offer </a:t>
            </a:r>
            <a:r>
              <a:rPr lang="en-IN" sz="2400" dirty="0" err="1"/>
              <a:t>satilite</a:t>
            </a:r>
            <a:r>
              <a:rPr lang="en-IN" sz="2400" dirty="0"/>
              <a:t> imagery data so I have decided to settle down with a data repository from Kaggle available at link</a:t>
            </a:r>
          </a:p>
          <a:p>
            <a:pPr marL="0" indent="0">
              <a:buNone/>
            </a:pPr>
            <a:r>
              <a:rPr lang="en-IN" sz="2400" b="1" dirty="0"/>
              <a:t>Data Preprocessing:</a:t>
            </a:r>
          </a:p>
          <a:p>
            <a:pPr marL="457200" indent="-457200">
              <a:buAutoNum type="arabicPeriod"/>
            </a:pPr>
            <a:r>
              <a:rPr lang="en-US" sz="2400" dirty="0"/>
              <a:t>Convert Images from BGR to RGB</a:t>
            </a:r>
          </a:p>
          <a:p>
            <a:pPr marL="457200" indent="-457200">
              <a:buAutoNum type="arabicPeriod"/>
            </a:pPr>
            <a:r>
              <a:rPr lang="en-US" sz="2400" dirty="0"/>
              <a:t>Convert Mask Images to Grayscale</a:t>
            </a:r>
          </a:p>
          <a:p>
            <a:pPr marL="457200" indent="-457200">
              <a:buAutoNum type="arabicPeriod"/>
            </a:pPr>
            <a:r>
              <a:rPr lang="en-US" sz="2400" dirty="0"/>
              <a:t>Resize Images and Masks to 256 × 256</a:t>
            </a:r>
          </a:p>
          <a:p>
            <a:pPr marL="457200" indent="-457200">
              <a:buAutoNum type="arabicPeriod"/>
            </a:pPr>
            <a:r>
              <a:rPr lang="en-US" sz="2400" dirty="0"/>
              <a:t>Normalize Pixel Values (0 to 1 Range)</a:t>
            </a:r>
          </a:p>
          <a:p>
            <a:pPr marL="457200" indent="-457200">
              <a:buAutoNum type="arabicPeriod"/>
            </a:pPr>
            <a:r>
              <a:rPr lang="en-US" sz="2400" dirty="0"/>
              <a:t>Expand Mask Dimensions to Add Channel (H × W × 1)</a:t>
            </a:r>
          </a:p>
          <a:p>
            <a:pPr marL="457200" indent="-457200">
              <a:buAutoNum type="arabicPeriod"/>
            </a:pPr>
            <a:r>
              <a:rPr lang="en-US" sz="2400" dirty="0"/>
              <a:t>Split Dataset into Training and Validation Sets</a:t>
            </a:r>
            <a:endParaRPr lang="en-IN" sz="2400" b="1" dirty="0"/>
          </a:p>
        </p:txBody>
      </p:sp>
      <p:sp>
        <p:nvSpPr>
          <p:cNvPr id="12" name="TextBox 11">
            <a:extLst>
              <a:ext uri="{FF2B5EF4-FFF2-40B4-BE49-F238E27FC236}">
                <a16:creationId xmlns:a16="http://schemas.microsoft.com/office/drawing/2014/main" id="{FB37DFB0-2EB0-9E18-4671-DCB4693D458D}"/>
              </a:ext>
            </a:extLst>
          </p:cNvPr>
          <p:cNvSpPr txBox="1"/>
          <p:nvPr/>
        </p:nvSpPr>
        <p:spPr>
          <a:xfrm>
            <a:off x="481766" y="846881"/>
            <a:ext cx="11556509"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METHODOLOGY - Data Collection and Preprocessing</a:t>
            </a:r>
            <a:endParaRPr lang="en-IN" sz="3600" dirty="0"/>
          </a:p>
        </p:txBody>
      </p:sp>
    </p:spTree>
    <p:extLst>
      <p:ext uri="{BB962C8B-B14F-4D97-AF65-F5344CB8AC3E}">
        <p14:creationId xmlns:p14="http://schemas.microsoft.com/office/powerpoint/2010/main" val="294459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2704322" y="547007"/>
            <a:ext cx="7590842" cy="745866"/>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METHODOLOGY</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Before and After preprocessing</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No.01         Batch No. AB5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12</a:t>
            </a:fld>
            <a:endParaRPr lang="en-US">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E11839D7-C322-78C3-230F-3B6D4C28B0D0}"/>
              </a:ext>
            </a:extLst>
          </p:cNvPr>
          <p:cNvSpPr>
            <a:spLocks noGrp="1" noChangeArrowheads="1"/>
          </p:cNvSpPr>
          <p:nvPr>
            <p:ph idx="1"/>
          </p:nvPr>
        </p:nvSpPr>
        <p:spPr bwMode="auto">
          <a:xfrm>
            <a:off x="590309" y="3225839"/>
            <a:ext cx="1089177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lang="en-US" altLang="en-US" sz="18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27B944F9-4676-BD6E-9B5E-CA8DCD01B9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6829" y="2442950"/>
            <a:ext cx="2230468" cy="2230468"/>
          </a:xfrm>
          <a:prstGeom prst="rect">
            <a:avLst/>
          </a:prstGeom>
        </p:spPr>
      </p:pic>
      <p:pic>
        <p:nvPicPr>
          <p:cNvPr id="12" name="Picture 11">
            <a:extLst>
              <a:ext uri="{FF2B5EF4-FFF2-40B4-BE49-F238E27FC236}">
                <a16:creationId xmlns:a16="http://schemas.microsoft.com/office/drawing/2014/main" id="{184523AE-C92A-3F92-A225-286F5EA3EE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758" y="2748474"/>
            <a:ext cx="2743099" cy="1619420"/>
          </a:xfrm>
          <a:prstGeom prst="rect">
            <a:avLst/>
          </a:prstGeom>
        </p:spPr>
      </p:pic>
    </p:spTree>
    <p:extLst>
      <p:ext uri="{BB962C8B-B14F-4D97-AF65-F5344CB8AC3E}">
        <p14:creationId xmlns:p14="http://schemas.microsoft.com/office/powerpoint/2010/main" val="509708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ctrTitle"/>
          </p:nvPr>
        </p:nvSpPr>
        <p:spPr>
          <a:xfrm>
            <a:off x="1317442" y="1088542"/>
            <a:ext cx="9144000" cy="88251"/>
          </a:xfrm>
        </p:spPr>
        <p:txBody>
          <a:bodyPr>
            <a:noAutofit/>
          </a:bodyPr>
          <a:lstStyle/>
          <a:p>
            <a:r>
              <a:rPr lang="en-IN" sz="3000" b="1" dirty="0">
                <a:latin typeface="Times New Roman" panose="02020603050405020304" pitchFamily="18" charset="0"/>
                <a:cs typeface="Times New Roman" panose="02020603050405020304" pitchFamily="18" charset="0"/>
              </a:rPr>
              <a:t>Model Training – Architecture /Block Diagram</a:t>
            </a:r>
          </a:p>
        </p:txBody>
      </p:sp>
      <p:pic>
        <p:nvPicPr>
          <p:cNvPr id="15" name="Picture 14"/>
          <p:cNvPicPr>
            <a:picLocks noChangeAspect="1"/>
          </p:cNvPicPr>
          <p:nvPr/>
        </p:nvPicPr>
        <p:blipFill>
          <a:blip r:embed="rId2"/>
          <a:stretch>
            <a:fillRect/>
          </a:stretch>
        </p:blipFill>
        <p:spPr>
          <a:xfrm>
            <a:off x="0" y="63780"/>
            <a:ext cx="3762900" cy="579027"/>
          </a:xfrm>
          <a:prstGeom prst="rect">
            <a:avLst/>
          </a:prstGeom>
        </p:spPr>
      </p:pic>
      <p:pic>
        <p:nvPicPr>
          <p:cNvPr id="3" name="Picture 2">
            <a:extLst>
              <a:ext uri="{FF2B5EF4-FFF2-40B4-BE49-F238E27FC236}">
                <a16:creationId xmlns:a16="http://schemas.microsoft.com/office/drawing/2014/main" id="{88FB1003-42CA-4A19-D62A-F1966C7ED2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803" y="2777201"/>
            <a:ext cx="4182059" cy="2372056"/>
          </a:xfrm>
          <a:prstGeom prst="rect">
            <a:avLst/>
          </a:prstGeom>
        </p:spPr>
      </p:pic>
      <p:pic>
        <p:nvPicPr>
          <p:cNvPr id="5" name="Picture 4">
            <a:extLst>
              <a:ext uri="{FF2B5EF4-FFF2-40B4-BE49-F238E27FC236}">
                <a16:creationId xmlns:a16="http://schemas.microsoft.com/office/drawing/2014/main" id="{DE7B8C1D-A775-E2BF-E2C7-DE1B2C4A2B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368" y="1945271"/>
            <a:ext cx="2929263" cy="4636244"/>
          </a:xfrm>
          <a:prstGeom prst="rect">
            <a:avLst/>
          </a:prstGeom>
        </p:spPr>
      </p:pic>
      <p:pic>
        <p:nvPicPr>
          <p:cNvPr id="7" name="Picture 6">
            <a:extLst>
              <a:ext uri="{FF2B5EF4-FFF2-40B4-BE49-F238E27FC236}">
                <a16:creationId xmlns:a16="http://schemas.microsoft.com/office/drawing/2014/main" id="{84EAAD44-D83D-7123-9F4A-657C7773FD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21061" y="1911375"/>
            <a:ext cx="3294628" cy="4817877"/>
          </a:xfrm>
          <a:prstGeom prst="rect">
            <a:avLst/>
          </a:prstGeom>
        </p:spPr>
      </p:pic>
      <p:sp>
        <p:nvSpPr>
          <p:cNvPr id="8" name="TextBox 7">
            <a:extLst>
              <a:ext uri="{FF2B5EF4-FFF2-40B4-BE49-F238E27FC236}">
                <a16:creationId xmlns:a16="http://schemas.microsoft.com/office/drawing/2014/main" id="{4B7280AE-FF45-575A-0597-304D12E293E0}"/>
              </a:ext>
            </a:extLst>
          </p:cNvPr>
          <p:cNvSpPr txBox="1"/>
          <p:nvPr/>
        </p:nvSpPr>
        <p:spPr>
          <a:xfrm>
            <a:off x="863721" y="2171601"/>
            <a:ext cx="3301724" cy="369332"/>
          </a:xfrm>
          <a:prstGeom prst="rect">
            <a:avLst/>
          </a:prstGeom>
          <a:noFill/>
        </p:spPr>
        <p:txBody>
          <a:bodyPr wrap="square" rtlCol="0">
            <a:spAutoFit/>
          </a:bodyPr>
          <a:lstStyle/>
          <a:p>
            <a:r>
              <a:rPr lang="en-IN" dirty="0"/>
              <a:t>Higher level Block Diagram </a:t>
            </a:r>
          </a:p>
        </p:txBody>
      </p:sp>
      <p:sp>
        <p:nvSpPr>
          <p:cNvPr id="9" name="TextBox 8">
            <a:extLst>
              <a:ext uri="{FF2B5EF4-FFF2-40B4-BE49-F238E27FC236}">
                <a16:creationId xmlns:a16="http://schemas.microsoft.com/office/drawing/2014/main" id="{E4F54B2C-5048-4896-3D6A-2CC64943EC4D}"/>
              </a:ext>
            </a:extLst>
          </p:cNvPr>
          <p:cNvSpPr txBox="1"/>
          <p:nvPr/>
        </p:nvSpPr>
        <p:spPr>
          <a:xfrm>
            <a:off x="4448685" y="1067562"/>
            <a:ext cx="3294628" cy="923330"/>
          </a:xfrm>
          <a:prstGeom prst="rect">
            <a:avLst/>
          </a:prstGeom>
          <a:noFill/>
        </p:spPr>
        <p:txBody>
          <a:bodyPr wrap="square" rtlCol="0">
            <a:spAutoFit/>
          </a:bodyPr>
          <a:lstStyle/>
          <a:p>
            <a:pPr algn="ctr"/>
            <a:r>
              <a:rPr lang="en-IN" dirty="0"/>
              <a:t>Detailed Block Diagram(ResNet50 + </a:t>
            </a:r>
            <a:r>
              <a:rPr lang="en-IN" dirty="0" err="1"/>
              <a:t>UNet</a:t>
            </a:r>
            <a:r>
              <a:rPr lang="en-IN" dirty="0"/>
              <a:t>) with layer specification</a:t>
            </a:r>
          </a:p>
        </p:txBody>
      </p:sp>
      <p:sp>
        <p:nvSpPr>
          <p:cNvPr id="12" name="TextBox 11">
            <a:extLst>
              <a:ext uri="{FF2B5EF4-FFF2-40B4-BE49-F238E27FC236}">
                <a16:creationId xmlns:a16="http://schemas.microsoft.com/office/drawing/2014/main" id="{E2C89858-7CDA-7881-0FF0-97E6075EF188}"/>
              </a:ext>
            </a:extLst>
          </p:cNvPr>
          <p:cNvSpPr txBox="1"/>
          <p:nvPr/>
        </p:nvSpPr>
        <p:spPr>
          <a:xfrm>
            <a:off x="8499944" y="1176793"/>
            <a:ext cx="2910178" cy="646331"/>
          </a:xfrm>
          <a:prstGeom prst="rect">
            <a:avLst/>
          </a:prstGeom>
          <a:noFill/>
        </p:spPr>
        <p:txBody>
          <a:bodyPr wrap="square" rtlCol="0">
            <a:spAutoFit/>
          </a:bodyPr>
          <a:lstStyle/>
          <a:p>
            <a:r>
              <a:rPr lang="en-IN" dirty="0"/>
              <a:t>Detailed Block diagram of </a:t>
            </a:r>
            <a:r>
              <a:rPr lang="en-IN" dirty="0" err="1"/>
              <a:t>UNet</a:t>
            </a:r>
            <a:r>
              <a:rPr lang="en-IN" dirty="0"/>
              <a:t> encoder  with layers</a:t>
            </a:r>
          </a:p>
        </p:txBody>
      </p:sp>
    </p:spTree>
    <p:extLst>
      <p:ext uri="{BB962C8B-B14F-4D97-AF65-F5344CB8AC3E}">
        <p14:creationId xmlns:p14="http://schemas.microsoft.com/office/powerpoint/2010/main" val="778118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8706"/>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Implementation and Model Hyper parameters </a:t>
            </a:r>
            <a:endParaRPr lang="en-IN"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t>10-11-2025</a:t>
            </a:r>
            <a:endParaRPr lang="en-IN" dirty="0"/>
          </a:p>
        </p:txBody>
      </p:sp>
      <p:sp>
        <p:nvSpPr>
          <p:cNvPr id="5" name="Footer Placeholder 4"/>
          <p:cNvSpPr>
            <a:spLocks noGrp="1"/>
          </p:cNvSpPr>
          <p:nvPr>
            <p:ph type="ftr" sz="quarter" idx="11"/>
          </p:nvPr>
        </p:nvSpPr>
        <p:spPr/>
        <p:txBody>
          <a:bodyPr/>
          <a:lstStyle/>
          <a:p>
            <a:r>
              <a:rPr lang="en-US"/>
              <a:t>Review No.01         Batch No. AB5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14</a:t>
            </a:fld>
            <a:endParaRPr lang="en-IN"/>
          </a:p>
        </p:txBody>
      </p:sp>
      <p:pic>
        <p:nvPicPr>
          <p:cNvPr id="10" name="Content Placeholder 9">
            <a:extLst>
              <a:ext uri="{FF2B5EF4-FFF2-40B4-BE49-F238E27FC236}">
                <a16:creationId xmlns:a16="http://schemas.microsoft.com/office/drawing/2014/main" id="{290A4426-5148-14C7-791C-128788575FC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89565" y="2044206"/>
            <a:ext cx="5280294" cy="3173483"/>
          </a:xfrm>
        </p:spPr>
      </p:pic>
      <p:graphicFrame>
        <p:nvGraphicFramePr>
          <p:cNvPr id="7" name="Table 6">
            <a:extLst>
              <a:ext uri="{FF2B5EF4-FFF2-40B4-BE49-F238E27FC236}">
                <a16:creationId xmlns:a16="http://schemas.microsoft.com/office/drawing/2014/main" id="{1C102C41-45A0-C115-6F95-B0C58BF1B9FC}"/>
              </a:ext>
            </a:extLst>
          </p:cNvPr>
          <p:cNvGraphicFramePr>
            <a:graphicFrameLocks noGrp="1"/>
          </p:cNvGraphicFramePr>
          <p:nvPr>
            <p:extLst>
              <p:ext uri="{D42A27DB-BD31-4B8C-83A1-F6EECF244321}">
                <p14:modId xmlns:p14="http://schemas.microsoft.com/office/powerpoint/2010/main" val="831739214"/>
              </p:ext>
            </p:extLst>
          </p:nvPr>
        </p:nvGraphicFramePr>
        <p:xfrm>
          <a:off x="5896334" y="1522748"/>
          <a:ext cx="5625106" cy="4496400"/>
        </p:xfrm>
        <a:graphic>
          <a:graphicData uri="http://schemas.openxmlformats.org/drawingml/2006/table">
            <a:tbl>
              <a:tblPr firstRow="1" bandRow="1">
                <a:tableStyleId>{5C22544A-7EE6-4342-B048-85BDC9FD1C3A}</a:tableStyleId>
              </a:tblPr>
              <a:tblGrid>
                <a:gridCol w="2812553">
                  <a:extLst>
                    <a:ext uri="{9D8B030D-6E8A-4147-A177-3AD203B41FA5}">
                      <a16:colId xmlns:a16="http://schemas.microsoft.com/office/drawing/2014/main" val="131224398"/>
                    </a:ext>
                  </a:extLst>
                </a:gridCol>
                <a:gridCol w="2812553">
                  <a:extLst>
                    <a:ext uri="{9D8B030D-6E8A-4147-A177-3AD203B41FA5}">
                      <a16:colId xmlns:a16="http://schemas.microsoft.com/office/drawing/2014/main" val="4221260332"/>
                    </a:ext>
                  </a:extLst>
                </a:gridCol>
              </a:tblGrid>
              <a:tr h="385632">
                <a:tc>
                  <a:txBody>
                    <a:bodyPr/>
                    <a:lstStyle/>
                    <a:p>
                      <a:r>
                        <a:rPr lang="en-IN" dirty="0"/>
                        <a:t>Parameter </a:t>
                      </a:r>
                    </a:p>
                  </a:txBody>
                  <a:tcPr/>
                </a:tc>
                <a:tc>
                  <a:txBody>
                    <a:bodyPr/>
                    <a:lstStyle/>
                    <a:p>
                      <a:r>
                        <a:rPr lang="en-IN" dirty="0"/>
                        <a:t>Value</a:t>
                      </a:r>
                    </a:p>
                  </a:txBody>
                  <a:tcPr/>
                </a:tc>
                <a:extLst>
                  <a:ext uri="{0D108BD9-81ED-4DB2-BD59-A6C34878D82A}">
                    <a16:rowId xmlns:a16="http://schemas.microsoft.com/office/drawing/2014/main" val="1353327048"/>
                  </a:ext>
                </a:extLst>
              </a:tr>
              <a:tr h="385632">
                <a:tc>
                  <a:txBody>
                    <a:bodyPr/>
                    <a:lstStyle/>
                    <a:p>
                      <a:pPr>
                        <a:buNone/>
                      </a:pPr>
                      <a:r>
                        <a:rPr lang="en-IN" dirty="0"/>
                        <a:t>Input Shape</a:t>
                      </a:r>
                    </a:p>
                  </a:txBody>
                  <a:tcPr anchor="ctr"/>
                </a:tc>
                <a:tc>
                  <a:txBody>
                    <a:bodyPr/>
                    <a:lstStyle/>
                    <a:p>
                      <a:pPr>
                        <a:buNone/>
                      </a:pPr>
                      <a:r>
                        <a:rPr lang="en-IN" dirty="0"/>
                        <a:t>256 × 256 × 3</a:t>
                      </a:r>
                    </a:p>
                  </a:txBody>
                  <a:tcPr anchor="ctr"/>
                </a:tc>
                <a:extLst>
                  <a:ext uri="{0D108BD9-81ED-4DB2-BD59-A6C34878D82A}">
                    <a16:rowId xmlns:a16="http://schemas.microsoft.com/office/drawing/2014/main" val="2551955777"/>
                  </a:ext>
                </a:extLst>
              </a:tr>
              <a:tr h="385632">
                <a:tc>
                  <a:txBody>
                    <a:bodyPr/>
                    <a:lstStyle/>
                    <a:p>
                      <a:r>
                        <a:rPr lang="en-IN" dirty="0"/>
                        <a:t>Learning rate</a:t>
                      </a:r>
                    </a:p>
                  </a:txBody>
                  <a:tcPr/>
                </a:tc>
                <a:tc>
                  <a:txBody>
                    <a:bodyPr/>
                    <a:lstStyle/>
                    <a:p>
                      <a:pPr>
                        <a:buNone/>
                      </a:pPr>
                      <a:r>
                        <a:rPr lang="en-IN" dirty="0"/>
                        <a:t>0.0001</a:t>
                      </a:r>
                    </a:p>
                  </a:txBody>
                  <a:tcPr anchor="ctr"/>
                </a:tc>
                <a:extLst>
                  <a:ext uri="{0D108BD9-81ED-4DB2-BD59-A6C34878D82A}">
                    <a16:rowId xmlns:a16="http://schemas.microsoft.com/office/drawing/2014/main" val="1391034104"/>
                  </a:ext>
                </a:extLst>
              </a:tr>
              <a:tr h="385632">
                <a:tc>
                  <a:txBody>
                    <a:bodyPr/>
                    <a:lstStyle/>
                    <a:p>
                      <a:pPr>
                        <a:buNone/>
                      </a:pPr>
                      <a:r>
                        <a:rPr lang="en-IN" dirty="0"/>
                        <a:t>Optimizer</a:t>
                      </a:r>
                    </a:p>
                  </a:txBody>
                  <a:tcPr anchor="ctr"/>
                </a:tc>
                <a:tc>
                  <a:txBody>
                    <a:bodyPr/>
                    <a:lstStyle/>
                    <a:p>
                      <a:r>
                        <a:rPr lang="en-IN" dirty="0"/>
                        <a:t>Adam</a:t>
                      </a:r>
                    </a:p>
                  </a:txBody>
                  <a:tcPr/>
                </a:tc>
                <a:extLst>
                  <a:ext uri="{0D108BD9-81ED-4DB2-BD59-A6C34878D82A}">
                    <a16:rowId xmlns:a16="http://schemas.microsoft.com/office/drawing/2014/main" val="2428169185"/>
                  </a:ext>
                </a:extLst>
              </a:tr>
              <a:tr h="385632">
                <a:tc>
                  <a:txBody>
                    <a:bodyPr/>
                    <a:lstStyle/>
                    <a:p>
                      <a:pPr>
                        <a:buNone/>
                      </a:pPr>
                      <a:r>
                        <a:rPr lang="en-IN" dirty="0"/>
                        <a:t>Loss Function</a:t>
                      </a:r>
                    </a:p>
                  </a:txBody>
                  <a:tcPr anchor="ctr"/>
                </a:tc>
                <a:tc>
                  <a:txBody>
                    <a:bodyPr/>
                    <a:lstStyle/>
                    <a:p>
                      <a:pPr>
                        <a:buNone/>
                      </a:pPr>
                      <a:r>
                        <a:rPr lang="en-IN" dirty="0"/>
                        <a:t>Binary Cross Entropy</a:t>
                      </a:r>
                    </a:p>
                  </a:txBody>
                  <a:tcPr anchor="ctr"/>
                </a:tc>
                <a:extLst>
                  <a:ext uri="{0D108BD9-81ED-4DB2-BD59-A6C34878D82A}">
                    <a16:rowId xmlns:a16="http://schemas.microsoft.com/office/drawing/2014/main" val="58136251"/>
                  </a:ext>
                </a:extLst>
              </a:tr>
              <a:tr h="385632">
                <a:tc>
                  <a:txBody>
                    <a:bodyPr/>
                    <a:lstStyle/>
                    <a:p>
                      <a:r>
                        <a:rPr lang="en-IN" dirty="0"/>
                        <a:t>Epochs</a:t>
                      </a:r>
                    </a:p>
                  </a:txBody>
                  <a:tcPr/>
                </a:tc>
                <a:tc>
                  <a:txBody>
                    <a:bodyPr/>
                    <a:lstStyle/>
                    <a:p>
                      <a:r>
                        <a:rPr lang="en-IN" dirty="0"/>
                        <a:t>30</a:t>
                      </a:r>
                    </a:p>
                  </a:txBody>
                  <a:tcPr/>
                </a:tc>
                <a:extLst>
                  <a:ext uri="{0D108BD9-81ED-4DB2-BD59-A6C34878D82A}">
                    <a16:rowId xmlns:a16="http://schemas.microsoft.com/office/drawing/2014/main" val="1628875132"/>
                  </a:ext>
                </a:extLst>
              </a:tr>
              <a:tr h="385632">
                <a:tc>
                  <a:txBody>
                    <a:bodyPr/>
                    <a:lstStyle/>
                    <a:p>
                      <a:pPr>
                        <a:buNone/>
                      </a:pPr>
                      <a:r>
                        <a:rPr lang="en-IN" dirty="0"/>
                        <a:t>Batch Size</a:t>
                      </a:r>
                    </a:p>
                  </a:txBody>
                  <a:tcPr anchor="ctr"/>
                </a:tc>
                <a:tc>
                  <a:txBody>
                    <a:bodyPr/>
                    <a:lstStyle/>
                    <a:p>
                      <a:r>
                        <a:rPr lang="en-IN" dirty="0"/>
                        <a:t>8</a:t>
                      </a:r>
                    </a:p>
                  </a:txBody>
                  <a:tcPr/>
                </a:tc>
                <a:extLst>
                  <a:ext uri="{0D108BD9-81ED-4DB2-BD59-A6C34878D82A}">
                    <a16:rowId xmlns:a16="http://schemas.microsoft.com/office/drawing/2014/main" val="2308687948"/>
                  </a:ext>
                </a:extLst>
              </a:tr>
              <a:tr h="385632">
                <a:tc>
                  <a:txBody>
                    <a:bodyPr/>
                    <a:lstStyle/>
                    <a:p>
                      <a:pPr>
                        <a:buNone/>
                      </a:pPr>
                      <a:r>
                        <a:rPr lang="en-IN" dirty="0"/>
                        <a:t>Activation Functions</a:t>
                      </a:r>
                    </a:p>
                  </a:txBody>
                  <a:tcPr anchor="ctr"/>
                </a:tc>
                <a:tc>
                  <a:txBody>
                    <a:bodyPr/>
                    <a:lstStyle/>
                    <a:p>
                      <a:r>
                        <a:rPr lang="en-IN" dirty="0" err="1"/>
                        <a:t>Relu</a:t>
                      </a:r>
                      <a:r>
                        <a:rPr lang="en-IN" dirty="0"/>
                        <a:t> + sigmoid</a:t>
                      </a:r>
                    </a:p>
                  </a:txBody>
                  <a:tcPr/>
                </a:tc>
                <a:extLst>
                  <a:ext uri="{0D108BD9-81ED-4DB2-BD59-A6C34878D82A}">
                    <a16:rowId xmlns:a16="http://schemas.microsoft.com/office/drawing/2014/main" val="1025705969"/>
                  </a:ext>
                </a:extLst>
              </a:tr>
              <a:tr h="385632">
                <a:tc>
                  <a:txBody>
                    <a:bodyPr/>
                    <a:lstStyle/>
                    <a:p>
                      <a:pPr>
                        <a:buNone/>
                      </a:pPr>
                      <a:r>
                        <a:rPr lang="en-IN" dirty="0"/>
                        <a:t>Validation Split</a:t>
                      </a:r>
                    </a:p>
                  </a:txBody>
                  <a:tcPr anchor="ctr"/>
                </a:tc>
                <a:tc>
                  <a:txBody>
                    <a:bodyPr/>
                    <a:lstStyle/>
                    <a:p>
                      <a:r>
                        <a:rPr lang="en-IN" dirty="0"/>
                        <a:t>20%</a:t>
                      </a:r>
                    </a:p>
                  </a:txBody>
                  <a:tcPr/>
                </a:tc>
                <a:extLst>
                  <a:ext uri="{0D108BD9-81ED-4DB2-BD59-A6C34878D82A}">
                    <a16:rowId xmlns:a16="http://schemas.microsoft.com/office/drawing/2014/main" val="1524532032"/>
                  </a:ext>
                </a:extLst>
              </a:tr>
              <a:tr h="385632">
                <a:tc>
                  <a:txBody>
                    <a:bodyPr/>
                    <a:lstStyle/>
                    <a:p>
                      <a:pPr>
                        <a:buNone/>
                      </a:pPr>
                      <a:r>
                        <a:rPr lang="en-IN" dirty="0"/>
                        <a:t>Filters (Decoder)</a:t>
                      </a:r>
                    </a:p>
                  </a:txBody>
                  <a:tcPr anchor="ctr"/>
                </a:tc>
                <a:tc>
                  <a:txBody>
                    <a:bodyPr/>
                    <a:lstStyle/>
                    <a:p>
                      <a:pPr>
                        <a:buNone/>
                      </a:pPr>
                      <a:r>
                        <a:rPr lang="en-IN" dirty="0"/>
                        <a:t>256 → 128 → 64 → 32 → 16 → 1</a:t>
                      </a:r>
                    </a:p>
                  </a:txBody>
                  <a:tcPr anchor="ctr"/>
                </a:tc>
                <a:extLst>
                  <a:ext uri="{0D108BD9-81ED-4DB2-BD59-A6C34878D82A}">
                    <a16:rowId xmlns:a16="http://schemas.microsoft.com/office/drawing/2014/main" val="1867953764"/>
                  </a:ext>
                </a:extLst>
              </a:tr>
              <a:tr h="385632">
                <a:tc>
                  <a:txBody>
                    <a:bodyPr/>
                    <a:lstStyle/>
                    <a:p>
                      <a:pPr>
                        <a:buNone/>
                      </a:pPr>
                      <a:r>
                        <a:rPr lang="en-IN" dirty="0"/>
                        <a:t>Smoothing Factor (</a:t>
                      </a:r>
                      <a:r>
                        <a:rPr lang="el-GR" dirty="0"/>
                        <a:t>ε)</a:t>
                      </a:r>
                    </a:p>
                  </a:txBody>
                  <a:tcPr anchor="ctr"/>
                </a:tc>
                <a:tc>
                  <a:txBody>
                    <a:bodyPr/>
                    <a:lstStyle/>
                    <a:p>
                      <a:r>
                        <a:rPr lang="en-IN" dirty="0"/>
                        <a:t>0.000001</a:t>
                      </a:r>
                    </a:p>
                  </a:txBody>
                  <a:tcPr/>
                </a:tc>
                <a:extLst>
                  <a:ext uri="{0D108BD9-81ED-4DB2-BD59-A6C34878D82A}">
                    <a16:rowId xmlns:a16="http://schemas.microsoft.com/office/drawing/2014/main" val="1422750672"/>
                  </a:ext>
                </a:extLst>
              </a:tr>
            </a:tbl>
          </a:graphicData>
        </a:graphic>
      </p:graphicFrame>
    </p:spTree>
    <p:extLst>
      <p:ext uri="{BB962C8B-B14F-4D97-AF65-F5344CB8AC3E}">
        <p14:creationId xmlns:p14="http://schemas.microsoft.com/office/powerpoint/2010/main" val="3365864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05118"/>
            <a:ext cx="10515600" cy="726142"/>
          </a:xfrm>
        </p:spPr>
        <p:txBody>
          <a:bodyPr/>
          <a:lstStyle/>
          <a:p>
            <a:pPr algn="ctr"/>
            <a:r>
              <a:rPr lang="en-IN" dirty="0">
                <a:latin typeface="Times New Roman" panose="02020603050405020304" pitchFamily="18" charset="0"/>
                <a:cs typeface="Times New Roman" panose="02020603050405020304" pitchFamily="18" charset="0"/>
              </a:rPr>
              <a:t>Model Evolution</a:t>
            </a:r>
            <a:endParaRPr lang="en-IN" b="1" dirty="0"/>
          </a:p>
        </p:txBody>
      </p:sp>
      <p:sp>
        <p:nvSpPr>
          <p:cNvPr id="4" name="Date Placeholder 3"/>
          <p:cNvSpPr>
            <a:spLocks noGrp="1"/>
          </p:cNvSpPr>
          <p:nvPr>
            <p:ph type="dt" sz="half" idx="10"/>
          </p:nvPr>
        </p:nvSpPr>
        <p:spPr/>
        <p:txBody>
          <a:bodyPr/>
          <a:lstStyle/>
          <a:p>
            <a:r>
              <a:rPr lang="en-US"/>
              <a:t>10-11-2025</a:t>
            </a:r>
            <a:endParaRPr lang="en-IN" dirty="0"/>
          </a:p>
        </p:txBody>
      </p:sp>
      <p:sp>
        <p:nvSpPr>
          <p:cNvPr id="5" name="Footer Placeholder 4"/>
          <p:cNvSpPr>
            <a:spLocks noGrp="1"/>
          </p:cNvSpPr>
          <p:nvPr>
            <p:ph type="ftr" sz="quarter" idx="11"/>
          </p:nvPr>
        </p:nvSpPr>
        <p:spPr/>
        <p:txBody>
          <a:bodyPr/>
          <a:lstStyle/>
          <a:p>
            <a:r>
              <a:rPr lang="en-US"/>
              <a:t>Review No.01         Batch No. AB5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15</a:t>
            </a:fld>
            <a:endParaRPr lang="en-IN"/>
          </a:p>
        </p:txBody>
      </p:sp>
      <p:graphicFrame>
        <p:nvGraphicFramePr>
          <p:cNvPr id="8" name="Content Placeholder 4">
            <a:extLst>
              <a:ext uri="{FF2B5EF4-FFF2-40B4-BE49-F238E27FC236}">
                <a16:creationId xmlns:a16="http://schemas.microsoft.com/office/drawing/2014/main" id="{DB68B0FB-68C2-6D02-520F-E52CB76A2E59}"/>
              </a:ext>
            </a:extLst>
          </p:cNvPr>
          <p:cNvGraphicFramePr>
            <a:graphicFrameLocks noGrp="1"/>
          </p:cNvGraphicFramePr>
          <p:nvPr>
            <p:ph sz="half" idx="1"/>
            <p:extLst>
              <p:ext uri="{D42A27DB-BD31-4B8C-83A1-F6EECF244321}">
                <p14:modId xmlns:p14="http://schemas.microsoft.com/office/powerpoint/2010/main" val="2746161510"/>
              </p:ext>
            </p:extLst>
          </p:nvPr>
        </p:nvGraphicFramePr>
        <p:xfrm>
          <a:off x="167639" y="1954077"/>
          <a:ext cx="5582920" cy="3267803"/>
        </p:xfrm>
        <a:graphic>
          <a:graphicData uri="http://schemas.openxmlformats.org/drawingml/2006/table">
            <a:tbl>
              <a:tblPr firstRow="1" bandRow="1">
                <a:tableStyleId>{5C22544A-7EE6-4342-B048-85BDC9FD1C3A}</a:tableStyleId>
              </a:tblPr>
              <a:tblGrid>
                <a:gridCol w="2791460">
                  <a:extLst>
                    <a:ext uri="{9D8B030D-6E8A-4147-A177-3AD203B41FA5}">
                      <a16:colId xmlns:a16="http://schemas.microsoft.com/office/drawing/2014/main" val="2547927755"/>
                    </a:ext>
                  </a:extLst>
                </a:gridCol>
                <a:gridCol w="2791460">
                  <a:extLst>
                    <a:ext uri="{9D8B030D-6E8A-4147-A177-3AD203B41FA5}">
                      <a16:colId xmlns:a16="http://schemas.microsoft.com/office/drawing/2014/main" val="3340334479"/>
                    </a:ext>
                  </a:extLst>
                </a:gridCol>
              </a:tblGrid>
              <a:tr h="572512">
                <a:tc>
                  <a:txBody>
                    <a:bodyPr/>
                    <a:lstStyle/>
                    <a:p>
                      <a:r>
                        <a:rPr lang="en-IN" dirty="0"/>
                        <a:t>Metric</a:t>
                      </a:r>
                    </a:p>
                  </a:txBody>
                  <a:tcPr/>
                </a:tc>
                <a:tc>
                  <a:txBody>
                    <a:bodyPr/>
                    <a:lstStyle/>
                    <a:p>
                      <a:r>
                        <a:rPr lang="en-IN" dirty="0"/>
                        <a:t>Result</a:t>
                      </a:r>
                    </a:p>
                  </a:txBody>
                  <a:tcPr/>
                </a:tc>
                <a:extLst>
                  <a:ext uri="{0D108BD9-81ED-4DB2-BD59-A6C34878D82A}">
                    <a16:rowId xmlns:a16="http://schemas.microsoft.com/office/drawing/2014/main" val="1967463305"/>
                  </a:ext>
                </a:extLst>
              </a:tr>
              <a:tr h="470709">
                <a:tc>
                  <a:txBody>
                    <a:bodyPr/>
                    <a:lstStyle/>
                    <a:p>
                      <a:pPr>
                        <a:buNone/>
                      </a:pPr>
                      <a:r>
                        <a:rPr lang="en-IN" b="1" dirty="0"/>
                        <a:t>Precision</a:t>
                      </a:r>
                      <a:endParaRPr lang="en-IN" dirty="0"/>
                    </a:p>
                  </a:txBody>
                  <a:tcPr anchor="ctr"/>
                </a:tc>
                <a:tc>
                  <a:txBody>
                    <a:bodyPr/>
                    <a:lstStyle/>
                    <a:p>
                      <a:r>
                        <a:rPr lang="en-IN" dirty="0"/>
                        <a:t>96%</a:t>
                      </a:r>
                    </a:p>
                  </a:txBody>
                  <a:tcPr/>
                </a:tc>
                <a:extLst>
                  <a:ext uri="{0D108BD9-81ED-4DB2-BD59-A6C34878D82A}">
                    <a16:rowId xmlns:a16="http://schemas.microsoft.com/office/drawing/2014/main" val="4286725276"/>
                  </a:ext>
                </a:extLst>
              </a:tr>
              <a:tr h="470709">
                <a:tc>
                  <a:txBody>
                    <a:bodyPr/>
                    <a:lstStyle/>
                    <a:p>
                      <a:pPr>
                        <a:buNone/>
                      </a:pPr>
                      <a:r>
                        <a:rPr lang="en-IN" b="1" dirty="0"/>
                        <a:t>Accuracy</a:t>
                      </a:r>
                      <a:endParaRPr lang="en-IN" dirty="0"/>
                    </a:p>
                  </a:txBody>
                  <a:tcPr anchor="ctr"/>
                </a:tc>
                <a:tc>
                  <a:txBody>
                    <a:bodyPr/>
                    <a:lstStyle/>
                    <a:p>
                      <a:r>
                        <a:rPr lang="en-IN" dirty="0"/>
                        <a:t>92%</a:t>
                      </a:r>
                    </a:p>
                  </a:txBody>
                  <a:tcPr/>
                </a:tc>
                <a:extLst>
                  <a:ext uri="{0D108BD9-81ED-4DB2-BD59-A6C34878D82A}">
                    <a16:rowId xmlns:a16="http://schemas.microsoft.com/office/drawing/2014/main" val="3365904254"/>
                  </a:ext>
                </a:extLst>
              </a:tr>
              <a:tr h="470709">
                <a:tc>
                  <a:txBody>
                    <a:bodyPr/>
                    <a:lstStyle/>
                    <a:p>
                      <a:pPr>
                        <a:buNone/>
                      </a:pPr>
                      <a:r>
                        <a:rPr lang="en-IN" b="1" dirty="0"/>
                        <a:t>Dice Coefficient</a:t>
                      </a:r>
                      <a:endParaRPr lang="en-IN" dirty="0"/>
                    </a:p>
                  </a:txBody>
                  <a:tcPr anchor="ctr"/>
                </a:tc>
                <a:tc>
                  <a:txBody>
                    <a:bodyPr/>
                    <a:lstStyle/>
                    <a:p>
                      <a:r>
                        <a:rPr lang="en-IN" dirty="0"/>
                        <a:t>91%</a:t>
                      </a:r>
                    </a:p>
                  </a:txBody>
                  <a:tcPr/>
                </a:tc>
                <a:extLst>
                  <a:ext uri="{0D108BD9-81ED-4DB2-BD59-A6C34878D82A}">
                    <a16:rowId xmlns:a16="http://schemas.microsoft.com/office/drawing/2014/main" val="1166337279"/>
                  </a:ext>
                </a:extLst>
              </a:tr>
              <a:tr h="812455">
                <a:tc>
                  <a:txBody>
                    <a:bodyPr/>
                    <a:lstStyle/>
                    <a:p>
                      <a:pPr>
                        <a:buNone/>
                      </a:pPr>
                      <a:r>
                        <a:rPr lang="en-IN" b="1" dirty="0"/>
                        <a:t>Intersection over Union (</a:t>
                      </a:r>
                      <a:r>
                        <a:rPr lang="en-IN" b="1" dirty="0" err="1"/>
                        <a:t>IoU</a:t>
                      </a:r>
                      <a:r>
                        <a:rPr lang="en-IN" b="1" dirty="0"/>
                        <a:t>)</a:t>
                      </a:r>
                      <a:endParaRPr lang="en-IN" dirty="0"/>
                    </a:p>
                  </a:txBody>
                  <a:tcPr anchor="ctr"/>
                </a:tc>
                <a:tc>
                  <a:txBody>
                    <a:bodyPr/>
                    <a:lstStyle/>
                    <a:p>
                      <a:r>
                        <a:rPr lang="en-IN" dirty="0"/>
                        <a:t>90%</a:t>
                      </a:r>
                    </a:p>
                  </a:txBody>
                  <a:tcPr/>
                </a:tc>
                <a:extLst>
                  <a:ext uri="{0D108BD9-81ED-4DB2-BD59-A6C34878D82A}">
                    <a16:rowId xmlns:a16="http://schemas.microsoft.com/office/drawing/2014/main" val="3009791370"/>
                  </a:ext>
                </a:extLst>
              </a:tr>
              <a:tr h="470709">
                <a:tc>
                  <a:txBody>
                    <a:bodyPr/>
                    <a:lstStyle/>
                    <a:p>
                      <a:r>
                        <a:rPr lang="en-IN" dirty="0"/>
                        <a:t>Loss</a:t>
                      </a:r>
                    </a:p>
                  </a:txBody>
                  <a:tcPr/>
                </a:tc>
                <a:tc>
                  <a:txBody>
                    <a:bodyPr/>
                    <a:lstStyle/>
                    <a:p>
                      <a:r>
                        <a:rPr lang="en-IN" dirty="0"/>
                        <a:t>6%</a:t>
                      </a:r>
                    </a:p>
                  </a:txBody>
                  <a:tcPr/>
                </a:tc>
                <a:extLst>
                  <a:ext uri="{0D108BD9-81ED-4DB2-BD59-A6C34878D82A}">
                    <a16:rowId xmlns:a16="http://schemas.microsoft.com/office/drawing/2014/main" val="1409080846"/>
                  </a:ext>
                </a:extLst>
              </a:tr>
            </a:tbl>
          </a:graphicData>
        </a:graphic>
      </p:graphicFrame>
      <p:pic>
        <p:nvPicPr>
          <p:cNvPr id="10" name="Picture 9">
            <a:extLst>
              <a:ext uri="{FF2B5EF4-FFF2-40B4-BE49-F238E27FC236}">
                <a16:creationId xmlns:a16="http://schemas.microsoft.com/office/drawing/2014/main" id="{CFC01971-089A-C95D-8D48-1C57C77FD9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4678" y="1434244"/>
            <a:ext cx="5410955" cy="4191585"/>
          </a:xfrm>
          <a:prstGeom prst="rect">
            <a:avLst/>
          </a:prstGeom>
        </p:spPr>
      </p:pic>
    </p:spTree>
    <p:extLst>
      <p:ext uri="{BB962C8B-B14F-4D97-AF65-F5344CB8AC3E}">
        <p14:creationId xmlns:p14="http://schemas.microsoft.com/office/powerpoint/2010/main" val="1307255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47700"/>
            <a:ext cx="10515600" cy="635000"/>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System Requirements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82700"/>
            <a:ext cx="10871200" cy="4894263"/>
          </a:xfrm>
        </p:spPr>
        <p:txBody>
          <a:bodyPr>
            <a:normAutofit fontScale="92500" lnSpcReduction="10000"/>
          </a:bodyPr>
          <a:lstStyle/>
          <a:p>
            <a:pPr>
              <a:buNone/>
              <a:tabLst>
                <a:tab pos="3860800" algn="l"/>
                <a:tab pos="5473700" algn="l"/>
              </a:tabLst>
            </a:pPr>
            <a:r>
              <a:rPr lang="en-US" sz="2600" b="1" dirty="0">
                <a:latin typeface="Times New Roman" panose="02020603050405020304" pitchFamily="18" charset="0"/>
                <a:cs typeface="Times New Roman" panose="02020603050405020304" pitchFamily="18" charset="0"/>
              </a:rPr>
              <a:t>Hardware Requirements</a:t>
            </a:r>
            <a:endParaRPr lang="en-IN" sz="2600" dirty="0">
              <a:latin typeface="Times New Roman" panose="02020603050405020304" pitchFamily="18" charset="0"/>
              <a:cs typeface="Times New Roman" panose="02020603050405020304" pitchFamily="18" charset="0"/>
            </a:endParaRPr>
          </a:p>
          <a:p>
            <a:pPr lvl="0" defTabSz="1041400">
              <a:tabLst>
                <a:tab pos="3860800" algn="l"/>
                <a:tab pos="5473700" algn="l"/>
              </a:tabLst>
            </a:pPr>
            <a:r>
              <a:rPr lang="en-US" sz="2600" dirty="0">
                <a:latin typeface="Times New Roman" panose="02020603050405020304" pitchFamily="18" charset="0"/>
                <a:cs typeface="Times New Roman" panose="02020603050405020304" pitchFamily="18" charset="0"/>
              </a:rPr>
              <a:t>Processor	:	intel Core i5</a:t>
            </a:r>
            <a:endParaRPr lang="en-IN" sz="2600" dirty="0">
              <a:latin typeface="Times New Roman" panose="02020603050405020304" pitchFamily="18" charset="0"/>
              <a:cs typeface="Times New Roman" panose="02020603050405020304" pitchFamily="18" charset="0"/>
            </a:endParaRPr>
          </a:p>
          <a:p>
            <a:pPr lvl="0" defTabSz="1790700">
              <a:tabLst>
                <a:tab pos="3860800" algn="l"/>
                <a:tab pos="5473700" algn="l"/>
              </a:tabLst>
            </a:pPr>
            <a:r>
              <a:rPr lang="en-US" sz="2600" dirty="0">
                <a:latin typeface="Times New Roman" panose="02020603050405020304" pitchFamily="18" charset="0"/>
                <a:cs typeface="Times New Roman" panose="02020603050405020304" pitchFamily="18" charset="0"/>
              </a:rPr>
              <a:t>Cache memory	:	4MB(Megabyte)</a:t>
            </a:r>
            <a:r>
              <a:rPr lang="en-IN" sz="26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600" dirty="0">
                <a:latin typeface="Times New Roman" panose="02020603050405020304" pitchFamily="18" charset="0"/>
                <a:cs typeface="Times New Roman" panose="02020603050405020304" pitchFamily="18" charset="0"/>
              </a:rPr>
              <a:t>RAM	</a:t>
            </a:r>
            <a:r>
              <a:rPr lang="en-I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12.7GB (gigabyte)</a:t>
            </a:r>
            <a:r>
              <a:rPr lang="en-IN" sz="26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600" dirty="0">
                <a:latin typeface="Times New Roman" panose="02020603050405020304" pitchFamily="18" charset="0"/>
                <a:cs typeface="Times New Roman" panose="02020603050405020304" pitchFamily="18" charset="0"/>
              </a:rPr>
              <a:t>Hard Disk</a:t>
            </a:r>
            <a:r>
              <a:rPr lang="en-I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166.8GB</a:t>
            </a:r>
            <a:r>
              <a:rPr lang="en-IN" sz="2600" dirty="0">
                <a:latin typeface="Times New Roman" panose="02020603050405020304" pitchFamily="18" charset="0"/>
                <a:cs typeface="Times New Roman" panose="02020603050405020304" pitchFamily="18" charset="0"/>
              </a:rPr>
              <a:t> </a:t>
            </a:r>
          </a:p>
          <a:p>
            <a:pPr lvl="0">
              <a:tabLst>
                <a:tab pos="3860800" algn="l"/>
                <a:tab pos="5473700" algn="l"/>
              </a:tabLst>
            </a:pPr>
            <a:r>
              <a:rPr lang="en-IN" sz="2600" dirty="0">
                <a:latin typeface="Times New Roman" panose="02020603050405020304" pitchFamily="18" charset="0"/>
                <a:cs typeface="Times New Roman" panose="02020603050405020304" pitchFamily="18" charset="0"/>
              </a:rPr>
              <a:t>Compute Engine      	:	 T4 GPU</a:t>
            </a:r>
          </a:p>
          <a:p>
            <a:pPr lvl="0">
              <a:buNone/>
              <a:tabLst>
                <a:tab pos="3860800" algn="l"/>
                <a:tab pos="5473700" algn="l"/>
              </a:tabLst>
            </a:pPr>
            <a:r>
              <a:rPr lang="en-US" sz="2600" b="1" dirty="0">
                <a:latin typeface="Times New Roman" panose="02020603050405020304" pitchFamily="18" charset="0"/>
                <a:cs typeface="Times New Roman" panose="02020603050405020304" pitchFamily="18" charset="0"/>
              </a:rPr>
              <a:t>Software Requirements</a:t>
            </a:r>
            <a:endParaRPr lang="en-IN" sz="2600" dirty="0">
              <a:latin typeface="Times New Roman" panose="02020603050405020304" pitchFamily="18" charset="0"/>
              <a:cs typeface="Times New Roman" panose="02020603050405020304" pitchFamily="18" charset="0"/>
            </a:endParaRPr>
          </a:p>
          <a:p>
            <a:pPr lvl="0">
              <a:tabLst>
                <a:tab pos="3860800" algn="l"/>
                <a:tab pos="5473700" algn="l"/>
              </a:tabLst>
            </a:pPr>
            <a:r>
              <a:rPr lang="en-US" sz="2600" dirty="0">
                <a:latin typeface="Times New Roman" panose="02020603050405020304" pitchFamily="18" charset="0"/>
                <a:cs typeface="Times New Roman" panose="02020603050405020304" pitchFamily="18" charset="0"/>
              </a:rPr>
              <a:t>Operating System</a:t>
            </a:r>
            <a:r>
              <a:rPr lang="en-I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Windows 10, 64-bit Operating System</a:t>
            </a:r>
            <a:r>
              <a:rPr lang="en-IN" sz="26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600" dirty="0">
                <a:latin typeface="Times New Roman" panose="02020603050405020304" pitchFamily="18" charset="0"/>
                <a:cs typeface="Times New Roman" panose="02020603050405020304" pitchFamily="18" charset="0"/>
              </a:rPr>
              <a:t>Coding Language</a:t>
            </a:r>
            <a:r>
              <a:rPr lang="en-I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Python</a:t>
            </a:r>
            <a:r>
              <a:rPr lang="en-IN" sz="26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600" dirty="0">
                <a:latin typeface="Times New Roman" panose="02020603050405020304" pitchFamily="18" charset="0"/>
                <a:cs typeface="Times New Roman" panose="02020603050405020304" pitchFamily="18" charset="0"/>
              </a:rPr>
              <a:t>Python distribution</a:t>
            </a:r>
            <a:r>
              <a:rPr lang="en-I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Google Colab , Flask</a:t>
            </a:r>
            <a:r>
              <a:rPr lang="en-IN" sz="26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600" dirty="0">
                <a:latin typeface="Times New Roman" panose="02020603050405020304" pitchFamily="18" charset="0"/>
                <a:cs typeface="Times New Roman" panose="02020603050405020304" pitchFamily="18" charset="0"/>
              </a:rPr>
              <a:t>Browser	: 	Any Latest Browser like Chrome</a:t>
            </a:r>
            <a:r>
              <a:rPr lang="en-IN" sz="2600" dirty="0">
                <a:latin typeface="Times New Roman" panose="02020603050405020304" pitchFamily="18" charset="0"/>
                <a:cs typeface="Times New Roman" panose="02020603050405020304" pitchFamily="18" charset="0"/>
              </a:rPr>
              <a:t> </a:t>
            </a:r>
          </a:p>
          <a:p>
            <a:endParaRPr lang="en-IN" dirty="0"/>
          </a:p>
        </p:txBody>
      </p:sp>
      <p:sp>
        <p:nvSpPr>
          <p:cNvPr id="4" name="Date Placeholder 3"/>
          <p:cNvSpPr>
            <a:spLocks noGrp="1"/>
          </p:cNvSpPr>
          <p:nvPr>
            <p:ph type="dt" sz="half" idx="10"/>
          </p:nvPr>
        </p:nvSpPr>
        <p:spPr/>
        <p:txBody>
          <a:bodyPr/>
          <a:lstStyle/>
          <a:p>
            <a:r>
              <a:rPr lang="en-US"/>
              <a:t>10-11-2025</a:t>
            </a:r>
            <a:endParaRPr lang="en-IN" dirty="0"/>
          </a:p>
        </p:txBody>
      </p:sp>
      <p:sp>
        <p:nvSpPr>
          <p:cNvPr id="5" name="Footer Placeholder 4"/>
          <p:cNvSpPr>
            <a:spLocks noGrp="1"/>
          </p:cNvSpPr>
          <p:nvPr>
            <p:ph type="ftr" sz="quarter" idx="11"/>
          </p:nvPr>
        </p:nvSpPr>
        <p:spPr/>
        <p:txBody>
          <a:bodyPr/>
          <a:lstStyle/>
          <a:p>
            <a:r>
              <a:rPr lang="en-US"/>
              <a:t>Review No.01         Batch No. AB5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16</a:t>
            </a:fld>
            <a:endParaRPr lang="en-IN"/>
          </a:p>
        </p:txBody>
      </p:sp>
    </p:spTree>
    <p:extLst>
      <p:ext uri="{BB962C8B-B14F-4D97-AF65-F5344CB8AC3E}">
        <p14:creationId xmlns:p14="http://schemas.microsoft.com/office/powerpoint/2010/main" val="3098497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108B5B-8009-EBCC-5307-7EF620497B40}"/>
              </a:ext>
            </a:extLst>
          </p:cNvPr>
          <p:cNvSpPr>
            <a:spLocks noGrp="1"/>
          </p:cNvSpPr>
          <p:nvPr>
            <p:ph type="dt" sz="half" idx="10"/>
          </p:nvPr>
        </p:nvSpPr>
        <p:spPr/>
        <p:txBody>
          <a:bodyPr/>
          <a:lstStyle/>
          <a:p>
            <a:r>
              <a:rPr lang="en-US"/>
              <a:t>10-11-2025</a:t>
            </a:r>
            <a:endParaRPr lang="en-IN"/>
          </a:p>
        </p:txBody>
      </p:sp>
      <p:sp>
        <p:nvSpPr>
          <p:cNvPr id="3" name="Footer Placeholder 2">
            <a:extLst>
              <a:ext uri="{FF2B5EF4-FFF2-40B4-BE49-F238E27FC236}">
                <a16:creationId xmlns:a16="http://schemas.microsoft.com/office/drawing/2014/main" id="{E127E7CF-A531-7104-9A22-CD6618215D58}"/>
              </a:ext>
            </a:extLst>
          </p:cNvPr>
          <p:cNvSpPr>
            <a:spLocks noGrp="1"/>
          </p:cNvSpPr>
          <p:nvPr>
            <p:ph type="ftr" sz="quarter" idx="11"/>
          </p:nvPr>
        </p:nvSpPr>
        <p:spPr/>
        <p:txBody>
          <a:bodyPr/>
          <a:lstStyle/>
          <a:p>
            <a:r>
              <a:rPr lang="en-US"/>
              <a:t>Review No.01         Batch No. AB5              Department of CSE</a:t>
            </a:r>
            <a:endParaRPr lang="en-IN"/>
          </a:p>
        </p:txBody>
      </p:sp>
      <p:sp>
        <p:nvSpPr>
          <p:cNvPr id="4" name="Slide Number Placeholder 3">
            <a:extLst>
              <a:ext uri="{FF2B5EF4-FFF2-40B4-BE49-F238E27FC236}">
                <a16:creationId xmlns:a16="http://schemas.microsoft.com/office/drawing/2014/main" id="{0334FF43-B1E7-2A42-B912-F6BB0BDC099D}"/>
              </a:ext>
            </a:extLst>
          </p:cNvPr>
          <p:cNvSpPr>
            <a:spLocks noGrp="1"/>
          </p:cNvSpPr>
          <p:nvPr>
            <p:ph type="sldNum" sz="quarter" idx="12"/>
          </p:nvPr>
        </p:nvSpPr>
        <p:spPr/>
        <p:txBody>
          <a:bodyPr/>
          <a:lstStyle/>
          <a:p>
            <a:fld id="{65DCBD69-296B-4D7C-AF62-9B588FC78772}" type="slidenum">
              <a:rPr lang="en-IN" smtClean="0"/>
              <a:t>17</a:t>
            </a:fld>
            <a:endParaRPr lang="en-IN"/>
          </a:p>
        </p:txBody>
      </p:sp>
      <p:pic>
        <p:nvPicPr>
          <p:cNvPr id="8" name="Picture 7">
            <a:extLst>
              <a:ext uri="{FF2B5EF4-FFF2-40B4-BE49-F238E27FC236}">
                <a16:creationId xmlns:a16="http://schemas.microsoft.com/office/drawing/2014/main" id="{A99F5D44-4D90-A586-136D-4A129F9933E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09985" y="664737"/>
            <a:ext cx="9772030" cy="5488540"/>
          </a:xfrm>
          <a:prstGeom prst="rect">
            <a:avLst/>
          </a:prstGeom>
        </p:spPr>
      </p:pic>
      <p:sp>
        <p:nvSpPr>
          <p:cNvPr id="10" name="TextBox 9">
            <a:extLst>
              <a:ext uri="{FF2B5EF4-FFF2-40B4-BE49-F238E27FC236}">
                <a16:creationId xmlns:a16="http://schemas.microsoft.com/office/drawing/2014/main" id="{A3F85FC2-6F4A-930B-3B64-312DAB390CD3}"/>
              </a:ext>
            </a:extLst>
          </p:cNvPr>
          <p:cNvSpPr txBox="1"/>
          <p:nvPr/>
        </p:nvSpPr>
        <p:spPr>
          <a:xfrm>
            <a:off x="4204505" y="101535"/>
            <a:ext cx="609407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Implementation of Frontend (First UI)</a:t>
            </a:r>
            <a:endParaRPr lang="en-IN" sz="2400" dirty="0"/>
          </a:p>
        </p:txBody>
      </p:sp>
      <p:pic>
        <p:nvPicPr>
          <p:cNvPr id="11" name="Picture 10">
            <a:extLst>
              <a:ext uri="{FF2B5EF4-FFF2-40B4-BE49-F238E27FC236}">
                <a16:creationId xmlns:a16="http://schemas.microsoft.com/office/drawing/2014/main" id="{2E602E42-0D1D-C0A3-AE95-45438EB7D334}"/>
              </a:ext>
            </a:extLst>
          </p:cNvPr>
          <p:cNvPicPr>
            <a:picLocks noChangeAspect="1"/>
          </p:cNvPicPr>
          <p:nvPr/>
        </p:nvPicPr>
        <p:blipFill>
          <a:blip r:embed="rId3"/>
          <a:stretch>
            <a:fillRect/>
          </a:stretch>
        </p:blipFill>
        <p:spPr>
          <a:xfrm>
            <a:off x="0" y="63780"/>
            <a:ext cx="3905416" cy="600957"/>
          </a:xfrm>
          <a:prstGeom prst="rect">
            <a:avLst/>
          </a:prstGeom>
        </p:spPr>
      </p:pic>
    </p:spTree>
    <p:extLst>
      <p:ext uri="{BB962C8B-B14F-4D97-AF65-F5344CB8AC3E}">
        <p14:creationId xmlns:p14="http://schemas.microsoft.com/office/powerpoint/2010/main" val="3168061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1032671"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 of Frontend – Testing with Input</a:t>
            </a:r>
            <a:endParaRPr lang="en-IN" sz="40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t>10-11-2025</a:t>
            </a:r>
            <a:endParaRPr lang="en-IN" dirty="0"/>
          </a:p>
        </p:txBody>
      </p:sp>
      <p:sp>
        <p:nvSpPr>
          <p:cNvPr id="5" name="Footer Placeholder 4"/>
          <p:cNvSpPr>
            <a:spLocks noGrp="1"/>
          </p:cNvSpPr>
          <p:nvPr>
            <p:ph type="ftr" sz="quarter" idx="11"/>
          </p:nvPr>
        </p:nvSpPr>
        <p:spPr/>
        <p:txBody>
          <a:bodyPr/>
          <a:lstStyle/>
          <a:p>
            <a:r>
              <a:rPr lang="en-US"/>
              <a:t>Review No.01         Batch No. AB5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18</a:t>
            </a:fld>
            <a:endParaRPr lang="en-IN" dirty="0"/>
          </a:p>
        </p:txBody>
      </p:sp>
      <p:pic>
        <p:nvPicPr>
          <p:cNvPr id="9" name="Content Placeholder 8">
            <a:extLst>
              <a:ext uri="{FF2B5EF4-FFF2-40B4-BE49-F238E27FC236}">
                <a16:creationId xmlns:a16="http://schemas.microsoft.com/office/drawing/2014/main" id="{B5CF10E4-10C1-C5D6-85C1-E9D5405173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77485" y="1825625"/>
            <a:ext cx="7237030" cy="4351338"/>
          </a:xfrm>
        </p:spPr>
      </p:pic>
    </p:spTree>
    <p:extLst>
      <p:ext uri="{BB962C8B-B14F-4D97-AF65-F5344CB8AC3E}">
        <p14:creationId xmlns:p14="http://schemas.microsoft.com/office/powerpoint/2010/main" val="9376514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E1B99-87C4-3842-B479-DACBC3895EF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D689F28-3244-0B03-399A-162FFDAA07CD}"/>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3E23B813-5C76-9DA3-D924-B7EA57126454}"/>
              </a:ext>
            </a:extLst>
          </p:cNvPr>
          <p:cNvSpPr>
            <a:spLocks noGrp="1"/>
          </p:cNvSpPr>
          <p:nvPr>
            <p:ph type="dt" sz="half" idx="10"/>
          </p:nvPr>
        </p:nvSpPr>
        <p:spPr/>
        <p:txBody>
          <a:bodyPr/>
          <a:lstStyle/>
          <a:p>
            <a:r>
              <a:rPr lang="en-US"/>
              <a:t>10-11-2025</a:t>
            </a:r>
            <a:endParaRPr lang="en-IN"/>
          </a:p>
        </p:txBody>
      </p:sp>
      <p:sp>
        <p:nvSpPr>
          <p:cNvPr id="5" name="Footer Placeholder 4">
            <a:extLst>
              <a:ext uri="{FF2B5EF4-FFF2-40B4-BE49-F238E27FC236}">
                <a16:creationId xmlns:a16="http://schemas.microsoft.com/office/drawing/2014/main" id="{F57568AF-BEED-6199-BA94-E85F030A2341}"/>
              </a:ext>
            </a:extLst>
          </p:cNvPr>
          <p:cNvSpPr>
            <a:spLocks noGrp="1"/>
          </p:cNvSpPr>
          <p:nvPr>
            <p:ph type="ftr" sz="quarter" idx="11"/>
          </p:nvPr>
        </p:nvSpPr>
        <p:spPr/>
        <p:txBody>
          <a:bodyPr/>
          <a:lstStyle/>
          <a:p>
            <a:r>
              <a:rPr lang="en-US"/>
              <a:t>Review No.01         Batch No. AB5              Department of CSE</a:t>
            </a:r>
            <a:endParaRPr lang="en-IN"/>
          </a:p>
        </p:txBody>
      </p:sp>
      <p:sp>
        <p:nvSpPr>
          <p:cNvPr id="6" name="Slide Number Placeholder 5">
            <a:extLst>
              <a:ext uri="{FF2B5EF4-FFF2-40B4-BE49-F238E27FC236}">
                <a16:creationId xmlns:a16="http://schemas.microsoft.com/office/drawing/2014/main" id="{DACC02B9-423E-F5D9-0C96-12F74782A1E8}"/>
              </a:ext>
            </a:extLst>
          </p:cNvPr>
          <p:cNvSpPr>
            <a:spLocks noGrp="1"/>
          </p:cNvSpPr>
          <p:nvPr>
            <p:ph type="sldNum" sz="quarter" idx="12"/>
          </p:nvPr>
        </p:nvSpPr>
        <p:spPr/>
        <p:txBody>
          <a:bodyPr/>
          <a:lstStyle/>
          <a:p>
            <a:fld id="{65DCBD69-296B-4D7C-AF62-9B588FC78772}" type="slidenum">
              <a:rPr lang="en-IN" smtClean="0"/>
              <a:t>19</a:t>
            </a:fld>
            <a:endParaRPr lang="en-IN"/>
          </a:p>
        </p:txBody>
      </p:sp>
    </p:spTree>
    <p:extLst>
      <p:ext uri="{BB962C8B-B14F-4D97-AF65-F5344CB8AC3E}">
        <p14:creationId xmlns:p14="http://schemas.microsoft.com/office/powerpoint/2010/main" val="1298487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CONCLUSION           FUTURE SCOPE</a:t>
            </a:r>
            <a:endParaRPr lang="en-IN" dirty="0"/>
          </a:p>
        </p:txBody>
      </p:sp>
      <p:sp>
        <p:nvSpPr>
          <p:cNvPr id="4" name="Date Placeholder 3"/>
          <p:cNvSpPr>
            <a:spLocks noGrp="1"/>
          </p:cNvSpPr>
          <p:nvPr>
            <p:ph type="dt" sz="half" idx="10"/>
          </p:nvPr>
        </p:nvSpPr>
        <p:spPr/>
        <p:txBody>
          <a:bodyPr/>
          <a:lstStyle/>
          <a:p>
            <a:r>
              <a:rPr lang="en-US"/>
              <a:t>10-11-2025</a:t>
            </a:r>
            <a:endParaRPr lang="en-IN" dirty="0"/>
          </a:p>
        </p:txBody>
      </p:sp>
      <p:sp>
        <p:nvSpPr>
          <p:cNvPr id="5" name="Footer Placeholder 4"/>
          <p:cNvSpPr>
            <a:spLocks noGrp="1"/>
          </p:cNvSpPr>
          <p:nvPr>
            <p:ph type="ftr" sz="quarter" idx="11"/>
          </p:nvPr>
        </p:nvSpPr>
        <p:spPr/>
        <p:txBody>
          <a:bodyPr/>
          <a:lstStyle/>
          <a:p>
            <a:r>
              <a:rPr lang="en-US"/>
              <a:t>Review No.01         Batch No. AB5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20</a:t>
            </a:fld>
            <a:endParaRPr lang="en-IN" dirty="0"/>
          </a:p>
        </p:txBody>
      </p:sp>
      <p:sp>
        <p:nvSpPr>
          <p:cNvPr id="10" name="TextBox 9">
            <a:extLst>
              <a:ext uri="{FF2B5EF4-FFF2-40B4-BE49-F238E27FC236}">
                <a16:creationId xmlns:a16="http://schemas.microsoft.com/office/drawing/2014/main" id="{3208FA43-5270-05A3-C96F-52715156A8F0}"/>
              </a:ext>
            </a:extLst>
          </p:cNvPr>
          <p:cNvSpPr txBox="1"/>
          <p:nvPr/>
        </p:nvSpPr>
        <p:spPr>
          <a:xfrm>
            <a:off x="1063399" y="1843950"/>
            <a:ext cx="4618944" cy="3170099"/>
          </a:xfrm>
          <a:prstGeom prst="rect">
            <a:avLst/>
          </a:prstGeom>
          <a:noFill/>
        </p:spPr>
        <p:txBody>
          <a:bodyPr wrap="square">
            <a:spAutoFit/>
          </a:bodyPr>
          <a:lstStyle/>
          <a:p>
            <a:r>
              <a:rPr lang="en-US" sz="2000" dirty="0"/>
              <a:t>This work presents an efficient approach for accurate water body extraction using a simplified ResNet50-U-Net model. By utilizing minimal data and reduced complexity, the model achieves high segmentation performance. The results support effective freshwater monitoring, disaster response, and resource management, demonstrating strong potential for real-world deployment.</a:t>
            </a:r>
            <a:endParaRPr lang="en-IN" sz="2000" dirty="0"/>
          </a:p>
        </p:txBody>
      </p:sp>
      <p:sp>
        <p:nvSpPr>
          <p:cNvPr id="12" name="TextBox 11">
            <a:extLst>
              <a:ext uri="{FF2B5EF4-FFF2-40B4-BE49-F238E27FC236}">
                <a16:creationId xmlns:a16="http://schemas.microsoft.com/office/drawing/2014/main" id="{B7022C94-B32A-B95F-8FEF-88C18D0A93D6}"/>
              </a:ext>
            </a:extLst>
          </p:cNvPr>
          <p:cNvSpPr txBox="1"/>
          <p:nvPr/>
        </p:nvSpPr>
        <p:spPr>
          <a:xfrm>
            <a:off x="6509659" y="1843950"/>
            <a:ext cx="4757737" cy="3477875"/>
          </a:xfrm>
          <a:prstGeom prst="rect">
            <a:avLst/>
          </a:prstGeom>
          <a:noFill/>
        </p:spPr>
        <p:txBody>
          <a:bodyPr wrap="square">
            <a:spAutoFit/>
          </a:bodyPr>
          <a:lstStyle/>
          <a:p>
            <a:r>
              <a:rPr lang="en-US" sz="2000" dirty="0"/>
              <a:t>In the future, this model can be extended to large-scale real-time monitoring systems for flood detection and drought assessment. Integration with GIS platforms and IoT-based sensors can enhance automated water resource management. Further improvements may include incorporating multi-temporal satellite imagery, attention-based feature refinement, and lightweight deployment on edge devices to support remote and low-power field environments.</a:t>
            </a:r>
            <a:endParaRPr lang="en-IN" sz="2000" dirty="0"/>
          </a:p>
        </p:txBody>
      </p:sp>
    </p:spTree>
    <p:extLst>
      <p:ext uri="{BB962C8B-B14F-4D97-AF65-F5344CB8AC3E}">
        <p14:creationId xmlns:p14="http://schemas.microsoft.com/office/powerpoint/2010/main" val="17836552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CE03694F-3416-C9C4-7090-E85B543F0797}"/>
              </a:ext>
            </a:extLst>
          </p:cNvPr>
          <p:cNvGraphicFramePr>
            <a:graphicFrameLocks noGrp="1"/>
          </p:cNvGraphicFramePr>
          <p:nvPr>
            <p:ph idx="1"/>
            <p:extLst>
              <p:ext uri="{D42A27DB-BD31-4B8C-83A1-F6EECF244321}">
                <p14:modId xmlns:p14="http://schemas.microsoft.com/office/powerpoint/2010/main" val="2607900885"/>
              </p:ext>
            </p:extLst>
          </p:nvPr>
        </p:nvGraphicFramePr>
        <p:xfrm>
          <a:off x="838200" y="1183822"/>
          <a:ext cx="10515600" cy="4249238"/>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796234014"/>
                    </a:ext>
                  </a:extLst>
                </a:gridCol>
                <a:gridCol w="5257800">
                  <a:extLst>
                    <a:ext uri="{9D8B030D-6E8A-4147-A177-3AD203B41FA5}">
                      <a16:colId xmlns:a16="http://schemas.microsoft.com/office/drawing/2014/main" val="2628150848"/>
                    </a:ext>
                  </a:extLst>
                </a:gridCol>
              </a:tblGrid>
              <a:tr h="530678">
                <a:tc>
                  <a:txBody>
                    <a:bodyPr/>
                    <a:lstStyle/>
                    <a:p>
                      <a:pPr algn="ctr"/>
                      <a:r>
                        <a:rPr lang="en-IN" sz="2400" b="1" dirty="0">
                          <a:latin typeface="Times New Roman" panose="02020603050405020304" pitchFamily="18" charset="0"/>
                          <a:cs typeface="Times New Roman" panose="02020603050405020304" pitchFamily="18" charset="0"/>
                        </a:rPr>
                        <a:t>CONCLUSION</a:t>
                      </a:r>
                      <a:endParaRPr lang="en-IN" sz="2400" dirty="0">
                        <a:solidFill>
                          <a:srgbClr val="FF0000"/>
                        </a:solidFill>
                      </a:endParaRPr>
                    </a:p>
                  </a:txBody>
                  <a:tcPr/>
                </a:tc>
                <a:tc>
                  <a:txBody>
                    <a:bodyPr/>
                    <a:lstStyle/>
                    <a:p>
                      <a:pPr algn="ctr"/>
                      <a:r>
                        <a:rPr lang="en-IN" sz="2600" b="1" dirty="0">
                          <a:latin typeface="Times New Roman" panose="02020603050405020304" pitchFamily="18" charset="0"/>
                          <a:cs typeface="Times New Roman" panose="02020603050405020304" pitchFamily="18" charset="0"/>
                        </a:rPr>
                        <a:t>FUTURE SCOPE</a:t>
                      </a:r>
                      <a:endParaRPr lang="en-IN" sz="2600" dirty="0"/>
                    </a:p>
                  </a:txBody>
                  <a:tcPr/>
                </a:tc>
                <a:extLst>
                  <a:ext uri="{0D108BD9-81ED-4DB2-BD59-A6C34878D82A}">
                    <a16:rowId xmlns:a16="http://schemas.microsoft.com/office/drawing/2014/main" val="4277884552"/>
                  </a:ext>
                </a:extLst>
              </a:tr>
              <a:tr h="3596697">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t>This work presents an efficient approach for accurate water body extraction using a simplified ResNet50-U-Net model. By utilizing minimal data and reduced complexity, the model achieves high segmentation performance. The results support effective freshwater monitoring, disaster response, and resource management, demonstrating strong potential for real-world deployment.</a:t>
                      </a:r>
                      <a:endParaRPr lang="en-IN" sz="2000" dirty="0"/>
                    </a:p>
                    <a:p>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t>In the future, this model can be extended to large-scale real-time monitoring systems for flood detection and drought assessment. Integration with GIS platforms and IoT-based sensors can enhance automated water resource management. Further improvements may include incorporating multi-temporal satellite imagery, attention-based feature refinement, and lightweight deployment on edge devices to support remote and low-power field environments.</a:t>
                      </a:r>
                      <a:endParaRPr lang="en-IN" sz="2000" dirty="0"/>
                    </a:p>
                    <a:p>
                      <a:endParaRPr lang="en-IN" dirty="0"/>
                    </a:p>
                  </a:txBody>
                  <a:tcPr/>
                </a:tc>
                <a:extLst>
                  <a:ext uri="{0D108BD9-81ED-4DB2-BD59-A6C34878D82A}">
                    <a16:rowId xmlns:a16="http://schemas.microsoft.com/office/drawing/2014/main" val="946066764"/>
                  </a:ext>
                </a:extLst>
              </a:tr>
            </a:tbl>
          </a:graphicData>
        </a:graphic>
      </p:graphicFrame>
      <p:sp>
        <p:nvSpPr>
          <p:cNvPr id="4" name="Date Placeholder 3">
            <a:extLst>
              <a:ext uri="{FF2B5EF4-FFF2-40B4-BE49-F238E27FC236}">
                <a16:creationId xmlns:a16="http://schemas.microsoft.com/office/drawing/2014/main" id="{341EFD39-AE67-385D-156A-3DF0A284ED07}"/>
              </a:ext>
            </a:extLst>
          </p:cNvPr>
          <p:cNvSpPr>
            <a:spLocks noGrp="1"/>
          </p:cNvSpPr>
          <p:nvPr>
            <p:ph type="dt" sz="half" idx="10"/>
          </p:nvPr>
        </p:nvSpPr>
        <p:spPr/>
        <p:txBody>
          <a:bodyPr/>
          <a:lstStyle/>
          <a:p>
            <a:r>
              <a:rPr lang="en-US"/>
              <a:t>10-11-2025</a:t>
            </a:r>
            <a:endParaRPr lang="en-IN"/>
          </a:p>
        </p:txBody>
      </p:sp>
      <p:sp>
        <p:nvSpPr>
          <p:cNvPr id="5" name="Footer Placeholder 4">
            <a:extLst>
              <a:ext uri="{FF2B5EF4-FFF2-40B4-BE49-F238E27FC236}">
                <a16:creationId xmlns:a16="http://schemas.microsoft.com/office/drawing/2014/main" id="{59B92A99-2210-BBF9-A66C-D3A26E769942}"/>
              </a:ext>
            </a:extLst>
          </p:cNvPr>
          <p:cNvSpPr>
            <a:spLocks noGrp="1"/>
          </p:cNvSpPr>
          <p:nvPr>
            <p:ph type="ftr" sz="quarter" idx="11"/>
          </p:nvPr>
        </p:nvSpPr>
        <p:spPr/>
        <p:txBody>
          <a:bodyPr/>
          <a:lstStyle/>
          <a:p>
            <a:r>
              <a:rPr lang="en-US"/>
              <a:t>Review No.01         Batch No. AB5              Department of CSE</a:t>
            </a:r>
            <a:endParaRPr lang="en-IN"/>
          </a:p>
        </p:txBody>
      </p:sp>
      <p:sp>
        <p:nvSpPr>
          <p:cNvPr id="6" name="Slide Number Placeholder 5">
            <a:extLst>
              <a:ext uri="{FF2B5EF4-FFF2-40B4-BE49-F238E27FC236}">
                <a16:creationId xmlns:a16="http://schemas.microsoft.com/office/drawing/2014/main" id="{B812031D-9C6A-D051-6B6A-E25F2358E230}"/>
              </a:ext>
            </a:extLst>
          </p:cNvPr>
          <p:cNvSpPr>
            <a:spLocks noGrp="1"/>
          </p:cNvSpPr>
          <p:nvPr>
            <p:ph type="sldNum" sz="quarter" idx="12"/>
          </p:nvPr>
        </p:nvSpPr>
        <p:spPr/>
        <p:txBody>
          <a:bodyPr/>
          <a:lstStyle/>
          <a:p>
            <a:fld id="{65DCBD69-296B-4D7C-AF62-9B588FC78772}" type="slidenum">
              <a:rPr lang="en-IN" smtClean="0"/>
              <a:t>21</a:t>
            </a:fld>
            <a:endParaRPr lang="en-IN"/>
          </a:p>
        </p:txBody>
      </p:sp>
    </p:spTree>
    <p:extLst>
      <p:ext uri="{BB962C8B-B14F-4D97-AF65-F5344CB8AC3E}">
        <p14:creationId xmlns:p14="http://schemas.microsoft.com/office/powerpoint/2010/main" val="2465440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2032"/>
          </a:xfrm>
        </p:spPr>
        <p:txBody>
          <a:bodyPr/>
          <a:lstStyle/>
          <a:p>
            <a:pPr algn="ctr"/>
            <a:r>
              <a:rPr lang="en-US"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t>10-11-2025</a:t>
            </a:r>
            <a:endParaRPr lang="en-IN" dirty="0"/>
          </a:p>
        </p:txBody>
      </p:sp>
      <p:sp>
        <p:nvSpPr>
          <p:cNvPr id="5" name="Footer Placeholder 4"/>
          <p:cNvSpPr>
            <a:spLocks noGrp="1"/>
          </p:cNvSpPr>
          <p:nvPr>
            <p:ph type="ftr" sz="quarter" idx="11"/>
          </p:nvPr>
        </p:nvSpPr>
        <p:spPr/>
        <p:txBody>
          <a:bodyPr/>
          <a:lstStyle/>
          <a:p>
            <a:r>
              <a:rPr lang="en-US"/>
              <a:t>Review No.01         Batch No. AB5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22</a:t>
            </a:fld>
            <a:endParaRPr lang="en-IN"/>
          </a:p>
        </p:txBody>
      </p:sp>
      <p:sp>
        <p:nvSpPr>
          <p:cNvPr id="7" name="Rectangle 2">
            <a:extLst>
              <a:ext uri="{FF2B5EF4-FFF2-40B4-BE49-F238E27FC236}">
                <a16:creationId xmlns:a16="http://schemas.microsoft.com/office/drawing/2014/main" id="{6A5339DB-7254-20E9-F8B9-D9181FC95740}"/>
              </a:ext>
            </a:extLst>
          </p:cNvPr>
          <p:cNvSpPr>
            <a:spLocks noGrp="1" noChangeArrowheads="1"/>
          </p:cNvSpPr>
          <p:nvPr>
            <p:ph idx="1"/>
          </p:nvPr>
        </p:nvSpPr>
        <p:spPr bwMode="auto">
          <a:xfrm>
            <a:off x="506413" y="1349406"/>
            <a:ext cx="1167832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Xu, Y., et al., “DMLU-Net: Dual Encoder U-Net for Water Body Segmentation,” </a:t>
            </a:r>
            <a:r>
              <a:rPr kumimoji="0" lang="en-US" altLang="en-US" sz="1800" b="0" i="1" u="none" strike="noStrike" cap="none" normalizeH="0" baseline="0" dirty="0">
                <a:ln>
                  <a:noFill/>
                </a:ln>
                <a:solidFill>
                  <a:schemeClr val="tx1"/>
                </a:solidFill>
                <a:effectLst/>
                <a:latin typeface="Arial" panose="020B0604020202020204" pitchFamily="34" charset="0"/>
              </a:rPr>
              <a:t>Applied Sciences</a:t>
            </a:r>
            <a:r>
              <a:rPr kumimoji="0" lang="en-US" altLang="en-US" sz="1800" b="0" i="0" u="none" strike="noStrike" cap="none" normalizeH="0" baseline="0" dirty="0">
                <a:ln>
                  <a:noFill/>
                </a:ln>
                <a:solidFill>
                  <a:schemeClr val="tx1"/>
                </a:solidFill>
                <a:effectLst/>
                <a:latin typeface="Arial" panose="020B0604020202020204" pitchFamily="34" charset="0"/>
              </a:rPr>
              <a:t>, 2021.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Chagas, G., et al., “Mapping Small Water Bodies Using Sentinel-2 Imagery,” </a:t>
            </a:r>
            <a:r>
              <a:rPr kumimoji="0" lang="en-US" altLang="en-US" sz="1800" b="0" i="1" u="none" strike="noStrike" cap="none" normalizeH="0" baseline="0" dirty="0">
                <a:ln>
                  <a:noFill/>
                </a:ln>
                <a:solidFill>
                  <a:schemeClr val="tx1"/>
                </a:solidFill>
                <a:effectLst/>
                <a:latin typeface="Arial" panose="020B0604020202020204" pitchFamily="34" charset="0"/>
              </a:rPr>
              <a:t>Remote Sensing</a:t>
            </a:r>
            <a:r>
              <a:rPr kumimoji="0" lang="en-US" altLang="en-US" sz="1800" b="0" i="0" u="none" strike="noStrike" cap="none" normalizeH="0" baseline="0" dirty="0">
                <a:ln>
                  <a:noFill/>
                </a:ln>
                <a:solidFill>
                  <a:schemeClr val="tx1"/>
                </a:solidFill>
                <a:effectLst/>
                <a:latin typeface="Arial" panose="020B0604020202020204" pitchFamily="34" charset="0"/>
              </a:rPr>
              <a:t>, 2020.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Ye, Z., et al., “High-Precision Water Surface Reconstruction from Stereo Satellite Images,” </a:t>
            </a:r>
            <a:r>
              <a:rPr kumimoji="0" lang="en-US" altLang="en-US" sz="1800" b="0" i="1" u="none" strike="noStrike" cap="none" normalizeH="0" baseline="0" dirty="0">
                <a:ln>
                  <a:noFill/>
                </a:ln>
                <a:solidFill>
                  <a:schemeClr val="tx1"/>
                </a:solidFill>
                <a:effectLst/>
                <a:latin typeface="Arial" panose="020B0604020202020204" pitchFamily="34" charset="0"/>
              </a:rPr>
              <a:t>Remote Sensing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2022.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Attya</a:t>
            </a:r>
            <a:r>
              <a:rPr kumimoji="0" lang="en-US" altLang="en-US" sz="1800" b="0" i="0" u="none" strike="noStrike" cap="none" normalizeH="0" baseline="0" dirty="0">
                <a:ln>
                  <a:noFill/>
                </a:ln>
                <a:solidFill>
                  <a:schemeClr val="tx1"/>
                </a:solidFill>
                <a:effectLst/>
                <a:latin typeface="Arial" panose="020B0604020202020204" pitchFamily="34" charset="0"/>
              </a:rPr>
              <a:t>, A., et al., “Attention-Based CNN for Water Body Extraction,” </a:t>
            </a:r>
            <a:r>
              <a:rPr kumimoji="0" lang="en-US" altLang="en-US" sz="1800" b="0" i="1" u="none" strike="noStrike" cap="none" normalizeH="0" baseline="0" dirty="0">
                <a:ln>
                  <a:noFill/>
                </a:ln>
                <a:solidFill>
                  <a:schemeClr val="tx1"/>
                </a:solidFill>
                <a:effectLst/>
                <a:latin typeface="Arial" panose="020B0604020202020204" pitchFamily="34" charset="0"/>
              </a:rPr>
              <a:t>Earth Science Informatics</a:t>
            </a:r>
            <a:r>
              <a:rPr kumimoji="0" lang="en-US" altLang="en-US" sz="1800" b="0" i="0" u="none" strike="noStrike" cap="none" normalizeH="0" baseline="0" dirty="0">
                <a:ln>
                  <a:noFill/>
                </a:ln>
                <a:solidFill>
                  <a:schemeClr val="tx1"/>
                </a:solidFill>
                <a:effectLst/>
                <a:latin typeface="Arial" panose="020B0604020202020204" pitchFamily="34" charset="0"/>
              </a:rPr>
              <a:t>, 2021.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Jonnala</a:t>
            </a:r>
            <a:r>
              <a:rPr kumimoji="0" lang="en-US" altLang="en-US" sz="1800" b="0" i="0" u="none" strike="noStrike" cap="none" normalizeH="0" baseline="0" dirty="0">
                <a:ln>
                  <a:noFill/>
                </a:ln>
                <a:solidFill>
                  <a:schemeClr val="tx1"/>
                </a:solidFill>
                <a:effectLst/>
                <a:latin typeface="Arial" panose="020B0604020202020204" pitchFamily="34" charset="0"/>
              </a:rPr>
              <a:t>, R., et al., “AER U-Net for Multi-scale Water Segmentation,” </a:t>
            </a:r>
            <a:r>
              <a:rPr kumimoji="0" lang="en-US" altLang="en-US" sz="1800" b="0" i="1" u="none" strike="noStrike" cap="none" normalizeH="0" baseline="0" dirty="0">
                <a:ln>
                  <a:noFill/>
                </a:ln>
                <a:solidFill>
                  <a:schemeClr val="tx1"/>
                </a:solidFill>
                <a:effectLst/>
                <a:latin typeface="Arial" panose="020B0604020202020204" pitchFamily="34" charset="0"/>
              </a:rPr>
              <a:t>Scientific Reports</a:t>
            </a:r>
            <a:r>
              <a:rPr kumimoji="0" lang="en-US" altLang="en-US" sz="1800" b="0" i="0" u="none" strike="noStrike" cap="none" normalizeH="0" baseline="0" dirty="0">
                <a:ln>
                  <a:noFill/>
                </a:ln>
                <a:solidFill>
                  <a:schemeClr val="tx1"/>
                </a:solidFill>
                <a:effectLst/>
                <a:latin typeface="Arial" panose="020B0604020202020204" pitchFamily="34" charset="0"/>
              </a:rPr>
              <a:t>, 2023.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Ni, S., et al., “</a:t>
            </a:r>
            <a:r>
              <a:rPr kumimoji="0" lang="en-US" altLang="en-US" sz="1800" b="0" i="0" u="none" strike="noStrike" cap="none" normalizeH="0" baseline="0" dirty="0" err="1">
                <a:ln>
                  <a:noFill/>
                </a:ln>
                <a:solidFill>
                  <a:schemeClr val="tx1"/>
                </a:solidFill>
                <a:effectLst/>
                <a:latin typeface="Arial" panose="020B0604020202020204" pitchFamily="34" charset="0"/>
              </a:rPr>
              <a:t>SDNet</a:t>
            </a:r>
            <a:r>
              <a:rPr kumimoji="0" lang="en-US" altLang="en-US" sz="1800" b="0" i="0" u="none" strike="noStrike" cap="none" normalizeH="0" baseline="0" dirty="0">
                <a:ln>
                  <a:noFill/>
                </a:ln>
                <a:solidFill>
                  <a:schemeClr val="tx1"/>
                </a:solidFill>
                <a:effectLst/>
                <a:latin typeface="Arial" panose="020B0604020202020204" pitchFamily="34" charset="0"/>
              </a:rPr>
              <a:t>: Sandwich Decoder for Thin Water Body Segmentation,” </a:t>
            </a:r>
            <a:r>
              <a:rPr kumimoji="0" lang="en-US" altLang="en-US" sz="1800" b="0" i="1" u="none" strike="noStrike" cap="none" normalizeH="0" baseline="0" dirty="0">
                <a:ln>
                  <a:noFill/>
                </a:ln>
                <a:solidFill>
                  <a:schemeClr val="tx1"/>
                </a:solidFill>
                <a:effectLst/>
                <a:latin typeface="Arial" panose="020B0604020202020204" pitchFamily="34" charset="0"/>
              </a:rPr>
              <a:t>IEEE JSTARS</a:t>
            </a:r>
            <a:r>
              <a:rPr kumimoji="0" lang="en-US" altLang="en-US" sz="1800" b="0" i="0" u="none" strike="noStrike" cap="none" normalizeH="0" baseline="0" dirty="0">
                <a:ln>
                  <a:noFill/>
                </a:ln>
                <a:solidFill>
                  <a:schemeClr val="tx1"/>
                </a:solidFill>
                <a:effectLst/>
                <a:latin typeface="Arial" panose="020B0604020202020204" pitchFamily="34" charset="0"/>
              </a:rPr>
              <a:t>, 2022.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Ronneberger</a:t>
            </a:r>
            <a:r>
              <a:rPr kumimoji="0" lang="en-US" altLang="en-US" sz="1800" b="0" i="0" u="none" strike="noStrike" cap="none" normalizeH="0" baseline="0" dirty="0">
                <a:ln>
                  <a:noFill/>
                </a:ln>
                <a:solidFill>
                  <a:schemeClr val="tx1"/>
                </a:solidFill>
                <a:effectLst/>
                <a:latin typeface="Arial" panose="020B0604020202020204" pitchFamily="34" charset="0"/>
              </a:rPr>
              <a:t>, O., et al., “U-Net: Convolutional Networks for Biomedical Image Segmentation,” </a:t>
            </a:r>
            <a:r>
              <a:rPr kumimoji="0" lang="en-US" altLang="en-US" sz="1800" b="0" i="1" u="none" strike="noStrike" cap="none" normalizeH="0" baseline="0" dirty="0">
                <a:ln>
                  <a:noFill/>
                </a:ln>
                <a:solidFill>
                  <a:schemeClr val="tx1"/>
                </a:solidFill>
                <a:effectLst/>
                <a:latin typeface="Arial" panose="020B0604020202020204" pitchFamily="34" charset="0"/>
              </a:rPr>
              <a:t>MICCAI</a:t>
            </a:r>
            <a:r>
              <a:rPr kumimoji="0" lang="en-US" altLang="en-US" sz="1800" b="0" i="0" u="none" strike="noStrike" cap="none" normalizeH="0" baseline="0" dirty="0">
                <a:ln>
                  <a:noFill/>
                </a:ln>
                <a:solidFill>
                  <a:schemeClr val="tx1"/>
                </a:solidFill>
                <a:effectLst/>
                <a:latin typeface="Arial" panose="020B0604020202020204" pitchFamily="34" charset="0"/>
              </a:rPr>
              <a:t>, 2015.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He, K., et al., “Deep Residual Learning for Image Recognition,” </a:t>
            </a:r>
            <a:r>
              <a:rPr kumimoji="0" lang="en-US" altLang="en-US" sz="1800" b="0" i="1" u="none" strike="noStrike" cap="none" normalizeH="0" baseline="0" dirty="0">
                <a:ln>
                  <a:noFill/>
                </a:ln>
                <a:solidFill>
                  <a:schemeClr val="tx1"/>
                </a:solidFill>
                <a:effectLst/>
                <a:latin typeface="Arial" panose="020B0604020202020204" pitchFamily="34" charset="0"/>
              </a:rPr>
              <a:t>IEEE CVPR</a:t>
            </a:r>
            <a:r>
              <a:rPr kumimoji="0" lang="en-US" altLang="en-US" sz="1800" b="0" i="0" u="none" strike="noStrike" cap="none" normalizeH="0" baseline="0" dirty="0">
                <a:ln>
                  <a:noFill/>
                </a:ln>
                <a:solidFill>
                  <a:schemeClr val="tx1"/>
                </a:solidFill>
                <a:effectLst/>
                <a:latin typeface="Arial" panose="020B0604020202020204" pitchFamily="34" charset="0"/>
              </a:rPr>
              <a:t>, 2016.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McFeeters, S., “NDWI: A Water Index for Remote Sensing,” </a:t>
            </a:r>
            <a:r>
              <a:rPr kumimoji="0" lang="en-US" altLang="en-US" sz="1800" b="0" i="1" u="none" strike="noStrike" cap="none" normalizeH="0" baseline="0" dirty="0">
                <a:ln>
                  <a:noFill/>
                </a:ln>
                <a:solidFill>
                  <a:schemeClr val="tx1"/>
                </a:solidFill>
                <a:effectLst/>
                <a:latin typeface="Arial" panose="020B0604020202020204" pitchFamily="34" charset="0"/>
              </a:rPr>
              <a:t>International Journal of Remote Sensing</a:t>
            </a:r>
            <a:r>
              <a:rPr kumimoji="0" lang="en-US" altLang="en-US" sz="1800" b="0" i="0" u="none" strike="noStrike" cap="none" normalizeH="0" baseline="0" dirty="0">
                <a:ln>
                  <a:noFill/>
                </a:ln>
                <a:solidFill>
                  <a:schemeClr val="tx1"/>
                </a:solidFill>
                <a:effectLst/>
                <a:latin typeface="Arial" panose="020B0604020202020204" pitchFamily="34" charset="0"/>
              </a:rPr>
              <a:t>, 1996.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Feng, Y., et al., “Surface Water Mapping Using Machine Learning and Landsat Imagery,” </a:t>
            </a:r>
            <a:r>
              <a:rPr kumimoji="0" lang="en-US" altLang="en-US" sz="1800" b="0" i="1" u="none" strike="noStrike" cap="none" normalizeH="0" baseline="0" dirty="0">
                <a:ln>
                  <a:noFill/>
                </a:ln>
                <a:solidFill>
                  <a:schemeClr val="tx1"/>
                </a:solidFill>
                <a:effectLst/>
                <a:latin typeface="Arial" panose="020B0604020202020204" pitchFamily="34" charset="0"/>
              </a:rPr>
              <a:t>Journal of Hydrology</a:t>
            </a:r>
            <a:r>
              <a:rPr kumimoji="0" lang="en-US" altLang="en-US" sz="1800" b="0" i="0" u="none" strike="noStrike" cap="none" normalizeH="0" baseline="0" dirty="0">
                <a:ln>
                  <a:noFill/>
                </a:ln>
                <a:solidFill>
                  <a:schemeClr val="tx1"/>
                </a:solidFill>
                <a:effectLst/>
                <a:latin typeface="Arial" panose="020B0604020202020204" pitchFamily="34" charset="0"/>
              </a:rPr>
              <a:t>,</a:t>
            </a: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2021.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Hu, T., et al., “Water Extraction Using Sentinel-1 SAR with Deep Networks,” </a:t>
            </a:r>
            <a:r>
              <a:rPr kumimoji="0" lang="en-US" altLang="en-US" sz="1800" b="0" i="1" u="none" strike="noStrike" cap="none" normalizeH="0" baseline="0" dirty="0">
                <a:ln>
                  <a:noFill/>
                </a:ln>
                <a:solidFill>
                  <a:schemeClr val="tx1"/>
                </a:solidFill>
                <a:effectLst/>
                <a:latin typeface="Arial" panose="020B0604020202020204" pitchFamily="34" charset="0"/>
              </a:rPr>
              <a:t>ISPRS Journal of Photogrammetry</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2020.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Zhang, Q., et al., “Global Surface Water Detection Using Deep Semantic Segmentation,”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Remote Sensing of Environment</a:t>
            </a:r>
            <a:r>
              <a:rPr kumimoji="0" lang="en-US" altLang="en-US" sz="1800" b="0" i="0" u="none" strike="noStrike" cap="none" normalizeH="0" baseline="0" dirty="0">
                <a:ln>
                  <a:noFill/>
                </a:ln>
                <a:solidFill>
                  <a:schemeClr val="tx1"/>
                </a:solidFill>
                <a:effectLst/>
                <a:latin typeface="Arial" panose="020B0604020202020204" pitchFamily="34" charset="0"/>
              </a:rPr>
              <a:t>, 2019.</a:t>
            </a:r>
          </a:p>
        </p:txBody>
      </p:sp>
    </p:spTree>
    <p:extLst>
      <p:ext uri="{BB962C8B-B14F-4D97-AF65-F5344CB8AC3E}">
        <p14:creationId xmlns:p14="http://schemas.microsoft.com/office/powerpoint/2010/main" val="24510123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latin typeface="Times New Roman" panose="02020603050405020304" pitchFamily="18" charset="0"/>
                <a:cs typeface="Times New Roman" panose="02020603050405020304" pitchFamily="18" charset="0"/>
              </a:rPr>
              <a:t>            ACKNOWLEDGEMENTS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62535" y="1573306"/>
            <a:ext cx="11066929" cy="4783044"/>
          </a:xfrm>
        </p:spPr>
        <p:txBody>
          <a:bodyPr>
            <a:noAutofit/>
          </a:bodyPr>
          <a:lstStyle/>
          <a:p>
            <a:r>
              <a:rPr lang="en-US" sz="2000" dirty="0"/>
              <a:t>I would like to express my sincere gratitude to my project guide, </a:t>
            </a:r>
            <a:r>
              <a:rPr lang="en-US" sz="2000" b="1" dirty="0"/>
              <a:t>sk. Kaja </a:t>
            </a:r>
            <a:r>
              <a:rPr lang="en-US" sz="2000" b="1" dirty="0" err="1"/>
              <a:t>mohiddin</a:t>
            </a:r>
            <a:r>
              <a:rPr lang="en-US" sz="2000" b="1" dirty="0"/>
              <a:t> basha</a:t>
            </a:r>
            <a:r>
              <a:rPr lang="en-US" sz="2000" dirty="0"/>
              <a:t>, for providing continuous support, valuable guidance, and encouragement throughout the development of this project. I am also thankful to the </a:t>
            </a:r>
            <a:r>
              <a:rPr lang="en-US" sz="2000" b="1" dirty="0"/>
              <a:t>Department of Computer Science and Engineering</a:t>
            </a:r>
            <a:r>
              <a:rPr lang="en-US" sz="2000" dirty="0"/>
              <a:t>, </a:t>
            </a:r>
            <a:r>
              <a:rPr lang="en-US" sz="2000" b="1" dirty="0"/>
              <a:t>[College Name]</a:t>
            </a:r>
            <a:r>
              <a:rPr lang="en-US" sz="2000" dirty="0"/>
              <a:t>, for offering the necessary resources and a productive environment to carry out this work.</a:t>
            </a:r>
          </a:p>
          <a:p>
            <a:r>
              <a:rPr lang="en-US" sz="2000" dirty="0"/>
              <a:t>My heartfelt thanks to my faculty members and lab staff for their technical assistance and constructive suggestions. I also extend my appreciation to my friends and classmates for their cooperation and motivation during various stages of this project.</a:t>
            </a:r>
          </a:p>
          <a:p>
            <a:r>
              <a:rPr lang="en-US" sz="2000" dirty="0"/>
              <a:t>Lastly, I am deeply grateful to my family for their constant encouragement, moral support, and belief in my capabilities. Without their support, the completion of this project would not have been possible.</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Thank You</a:t>
            </a:r>
          </a:p>
          <a:p>
            <a:pPr marL="0" indent="0">
              <a:buNone/>
            </a:pPr>
            <a:r>
              <a:rPr lang="en-US" sz="2300" dirty="0">
                <a:latin typeface="Times New Roman" panose="02020603050405020304" pitchFamily="18" charset="0"/>
                <a:cs typeface="Times New Roman" panose="02020603050405020304" pitchFamily="18" charset="0"/>
              </a:rPr>
              <a:t>                                           </a:t>
            </a:r>
          </a:p>
        </p:txBody>
      </p:sp>
      <p:sp>
        <p:nvSpPr>
          <p:cNvPr id="4" name="Date Placeholder 3"/>
          <p:cNvSpPr>
            <a:spLocks noGrp="1"/>
          </p:cNvSpPr>
          <p:nvPr>
            <p:ph type="dt" sz="half" idx="10"/>
          </p:nvPr>
        </p:nvSpPr>
        <p:spPr/>
        <p:txBody>
          <a:bodyPr/>
          <a:lstStyle/>
          <a:p>
            <a:r>
              <a:rPr lang="en-US"/>
              <a:t>10-11-2025</a:t>
            </a:r>
            <a:endParaRPr lang="en-IN" dirty="0"/>
          </a:p>
        </p:txBody>
      </p:sp>
      <p:sp>
        <p:nvSpPr>
          <p:cNvPr id="5" name="Footer Placeholder 4"/>
          <p:cNvSpPr>
            <a:spLocks noGrp="1"/>
          </p:cNvSpPr>
          <p:nvPr>
            <p:ph type="ftr" sz="quarter" idx="11"/>
          </p:nvPr>
        </p:nvSpPr>
        <p:spPr/>
        <p:txBody>
          <a:bodyPr/>
          <a:lstStyle/>
          <a:p>
            <a:r>
              <a:rPr lang="en-US"/>
              <a:t>Review No.01         Batch No. AB5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23</a:t>
            </a:fld>
            <a:endParaRPr lang="en-IN"/>
          </a:p>
        </p:txBody>
      </p:sp>
    </p:spTree>
    <p:extLst>
      <p:ext uri="{BB962C8B-B14F-4D97-AF65-F5344CB8AC3E}">
        <p14:creationId xmlns:p14="http://schemas.microsoft.com/office/powerpoint/2010/main" val="3460599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No.01         Batch No. AB5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24</a:t>
            </a:fld>
            <a:endParaRPr lang="en-US">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AFEB9F3-DF1F-62FF-8F2B-199FAA012672}"/>
              </a:ext>
            </a:extLst>
          </p:cNvPr>
          <p:cNvSpPr txBox="1"/>
          <p:nvPr/>
        </p:nvSpPr>
        <p:spPr>
          <a:xfrm>
            <a:off x="1959428" y="1224643"/>
            <a:ext cx="8474529" cy="4708981"/>
          </a:xfrm>
          <a:prstGeom prst="rect">
            <a:avLst/>
          </a:prstGeom>
          <a:noFill/>
        </p:spPr>
        <p:txBody>
          <a:bodyPr wrap="square" rtlCol="0">
            <a:spAutoFit/>
          </a:bodyPr>
          <a:lstStyle/>
          <a:p>
            <a:r>
              <a:rPr lang="en-IN" sz="30000" dirty="0"/>
              <a:t>Q&amp;A</a:t>
            </a:r>
          </a:p>
        </p:txBody>
      </p:sp>
    </p:spTree>
    <p:extLst>
      <p:ext uri="{BB962C8B-B14F-4D97-AF65-F5344CB8AC3E}">
        <p14:creationId xmlns:p14="http://schemas.microsoft.com/office/powerpoint/2010/main" val="1004913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4212</TotalTime>
  <Words>2188</Words>
  <Application>Microsoft Office PowerPoint</Application>
  <PresentationFormat>Widescreen</PresentationFormat>
  <Paragraphs>278</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Times New Roman</vt:lpstr>
      <vt:lpstr>Wingdings</vt:lpstr>
      <vt:lpstr>Office Theme</vt:lpstr>
      <vt:lpstr>PowerPoint Presentation</vt:lpstr>
      <vt:lpstr>OUTLINE</vt:lpstr>
      <vt:lpstr>ABSTRACT</vt:lpstr>
      <vt:lpstr>INTRODUCTION</vt:lpstr>
      <vt:lpstr>LITERATURE SURVEY</vt:lpstr>
      <vt:lpstr>LITERATURE SURVEY</vt:lpstr>
      <vt:lpstr>RESEARCH GAPS</vt:lpstr>
      <vt:lpstr>PROBLEM STATEMENT</vt:lpstr>
      <vt:lpstr>OBJECTIVES</vt:lpstr>
      <vt:lpstr>METHODOLOGY</vt:lpstr>
      <vt:lpstr>PowerPoint Presentation</vt:lpstr>
      <vt:lpstr>METHODOLOGY Before and After preprocessing</vt:lpstr>
      <vt:lpstr>Model Training – Architecture /Block Diagram</vt:lpstr>
      <vt:lpstr>Implementation and Model Hyper parameters </vt:lpstr>
      <vt:lpstr>Model Evolution</vt:lpstr>
      <vt:lpstr>System Requirements</vt:lpstr>
      <vt:lpstr>PowerPoint Presentation</vt:lpstr>
      <vt:lpstr>Implementation of Frontend – Testing with Input</vt:lpstr>
      <vt:lpstr>PowerPoint Presentation</vt:lpstr>
      <vt:lpstr>CONCLUSION           FUTURE SCOPE</vt:lpstr>
      <vt:lpstr>PowerPoint Presentation</vt:lpstr>
      <vt:lpstr>REFERENCES</vt:lpstr>
      <vt:lpstr>            ACKNOWLEDGEMENTS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admin</dc:creator>
  <cp:lastModifiedBy>Anjaneya Kumar</cp:lastModifiedBy>
  <cp:revision>122</cp:revision>
  <dcterms:created xsi:type="dcterms:W3CDTF">2023-12-22T11:34:02Z</dcterms:created>
  <dcterms:modified xsi:type="dcterms:W3CDTF">2026-04-04T10:36:55Z</dcterms:modified>
</cp:coreProperties>
</file>