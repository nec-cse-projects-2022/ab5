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92" d="100"/>
          <a:sy n="92" d="100"/>
        </p:scale>
        <p:origin x="336"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495516D7-1BE4-42FF-915C-DF82BCB40BA1}" type="datetimeFigureOut">
              <a:rPr lang="en-US" smtClean="0"/>
              <a:t>4/4/2026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F4498D-634D-45F6-B65F-DB7A81CF5FF8}" type="slidenum">
              <a:rPr lang="en-US" smtClean="0"/>
              <a:t>‹#›</a:t>
            </a:fld>
            <a:endParaRPr lang="en-US"/>
          </a:p>
        </p:txBody>
      </p:sp>
    </p:spTree>
    <p:extLst>
      <p:ext uri="{BB962C8B-B14F-4D97-AF65-F5344CB8AC3E}">
        <p14:creationId xmlns:p14="http://schemas.microsoft.com/office/powerpoint/2010/main" val="15402664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5516D7-1BE4-42FF-915C-DF82BCB40BA1}" type="datetimeFigureOut">
              <a:rPr lang="en-US" smtClean="0"/>
              <a:t>4/4/2026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F4498D-634D-45F6-B65F-DB7A81CF5FF8}" type="slidenum">
              <a:rPr lang="en-US" smtClean="0"/>
              <a:t>‹#›</a:t>
            </a:fld>
            <a:endParaRPr lang="en-US"/>
          </a:p>
        </p:txBody>
      </p:sp>
    </p:spTree>
    <p:extLst>
      <p:ext uri="{BB962C8B-B14F-4D97-AF65-F5344CB8AC3E}">
        <p14:creationId xmlns:p14="http://schemas.microsoft.com/office/powerpoint/2010/main" val="21512346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95516D7-1BE4-42FF-915C-DF82BCB40BA1}" type="datetimeFigureOut">
              <a:rPr lang="en-US" smtClean="0"/>
              <a:t>4/4/2026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F4498D-634D-45F6-B65F-DB7A81CF5FF8}" type="slidenum">
              <a:rPr lang="en-US" smtClean="0"/>
              <a:t>‹#›</a:t>
            </a:fld>
            <a:endParaRPr lang="en-US"/>
          </a:p>
        </p:txBody>
      </p:sp>
    </p:spTree>
    <p:extLst>
      <p:ext uri="{BB962C8B-B14F-4D97-AF65-F5344CB8AC3E}">
        <p14:creationId xmlns:p14="http://schemas.microsoft.com/office/powerpoint/2010/main" val="3824309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95516D7-1BE4-42FF-915C-DF82BCB40BA1}" type="datetimeFigureOut">
              <a:rPr lang="en-US" smtClean="0"/>
              <a:t>4/4/2026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F4498D-634D-45F6-B65F-DB7A81CF5FF8}" type="slidenum">
              <a:rPr lang="en-US" smtClean="0"/>
              <a:t>‹#›</a:t>
            </a:fld>
            <a:endParaRPr lang="en-US"/>
          </a:p>
        </p:txBody>
      </p:sp>
    </p:spTree>
    <p:extLst>
      <p:ext uri="{BB962C8B-B14F-4D97-AF65-F5344CB8AC3E}">
        <p14:creationId xmlns:p14="http://schemas.microsoft.com/office/powerpoint/2010/main" val="38697252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95516D7-1BE4-42FF-915C-DF82BCB40BA1}" type="datetimeFigureOut">
              <a:rPr lang="en-US" smtClean="0"/>
              <a:t>4/4/2026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1F4498D-634D-45F6-B65F-DB7A81CF5FF8}" type="slidenum">
              <a:rPr lang="en-US" smtClean="0"/>
              <a:t>‹#›</a:t>
            </a:fld>
            <a:endParaRPr lang="en-US"/>
          </a:p>
        </p:txBody>
      </p:sp>
    </p:spTree>
    <p:extLst>
      <p:ext uri="{BB962C8B-B14F-4D97-AF65-F5344CB8AC3E}">
        <p14:creationId xmlns:p14="http://schemas.microsoft.com/office/powerpoint/2010/main" val="5422169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95516D7-1BE4-42FF-915C-DF82BCB40BA1}" type="datetimeFigureOut">
              <a:rPr lang="en-US" smtClean="0"/>
              <a:t>4/4/2026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1F4498D-634D-45F6-B65F-DB7A81CF5FF8}" type="slidenum">
              <a:rPr lang="en-US" smtClean="0"/>
              <a:t>‹#›</a:t>
            </a:fld>
            <a:endParaRPr lang="en-US"/>
          </a:p>
        </p:txBody>
      </p:sp>
    </p:spTree>
    <p:extLst>
      <p:ext uri="{BB962C8B-B14F-4D97-AF65-F5344CB8AC3E}">
        <p14:creationId xmlns:p14="http://schemas.microsoft.com/office/powerpoint/2010/main" val="39307987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5516D7-1BE4-42FF-915C-DF82BCB40BA1}" type="datetimeFigureOut">
              <a:rPr lang="en-US" smtClean="0"/>
              <a:t>4/4/2026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1F4498D-634D-45F6-B65F-DB7A81CF5FF8}" type="slidenum">
              <a:rPr lang="en-US" smtClean="0"/>
              <a:t>‹#›</a:t>
            </a:fld>
            <a:endParaRPr lang="en-US"/>
          </a:p>
        </p:txBody>
      </p:sp>
    </p:spTree>
    <p:extLst>
      <p:ext uri="{BB962C8B-B14F-4D97-AF65-F5344CB8AC3E}">
        <p14:creationId xmlns:p14="http://schemas.microsoft.com/office/powerpoint/2010/main" val="18770264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95516D7-1BE4-42FF-915C-DF82BCB40BA1}" type="datetimeFigureOut">
              <a:rPr lang="en-US" smtClean="0"/>
              <a:t>4/4/2026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F4498D-634D-45F6-B65F-DB7A81CF5FF8}" type="slidenum">
              <a:rPr lang="en-US" smtClean="0"/>
              <a:t>‹#›</a:t>
            </a:fld>
            <a:endParaRPr lang="en-US"/>
          </a:p>
        </p:txBody>
      </p:sp>
    </p:spTree>
    <p:extLst>
      <p:ext uri="{BB962C8B-B14F-4D97-AF65-F5344CB8AC3E}">
        <p14:creationId xmlns:p14="http://schemas.microsoft.com/office/powerpoint/2010/main" val="4967475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95516D7-1BE4-42FF-915C-DF82BCB40BA1}" type="datetimeFigureOut">
              <a:rPr lang="en-US" smtClean="0"/>
              <a:t>4/4/2026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F4498D-634D-45F6-B65F-DB7A81CF5FF8}" type="slidenum">
              <a:rPr lang="en-US" smtClean="0"/>
              <a:t>‹#›</a:t>
            </a:fld>
            <a:endParaRPr lang="en-US"/>
          </a:p>
        </p:txBody>
      </p:sp>
    </p:spTree>
    <p:extLst>
      <p:ext uri="{BB962C8B-B14F-4D97-AF65-F5344CB8AC3E}">
        <p14:creationId xmlns:p14="http://schemas.microsoft.com/office/powerpoint/2010/main" val="28277316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5516D7-1BE4-42FF-915C-DF82BCB40BA1}" type="datetimeFigureOut">
              <a:rPr lang="en-US" smtClean="0"/>
              <a:t>4/4/2026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F4498D-634D-45F6-B65F-DB7A81CF5FF8}" type="slidenum">
              <a:rPr lang="en-US" smtClean="0"/>
              <a:t>‹#›</a:t>
            </a:fld>
            <a:endParaRPr lang="en-US"/>
          </a:p>
        </p:txBody>
      </p:sp>
    </p:spTree>
    <p:extLst>
      <p:ext uri="{BB962C8B-B14F-4D97-AF65-F5344CB8AC3E}">
        <p14:creationId xmlns:p14="http://schemas.microsoft.com/office/powerpoint/2010/main" val="7406439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5516D7-1BE4-42FF-915C-DF82BCB40BA1}" type="datetimeFigureOut">
              <a:rPr lang="en-US" smtClean="0"/>
              <a:t>4/4/2026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F4498D-634D-45F6-B65F-DB7A81CF5FF8}" type="slidenum">
              <a:rPr lang="en-US" smtClean="0"/>
              <a:t>‹#›</a:t>
            </a:fld>
            <a:endParaRPr lang="en-US"/>
          </a:p>
        </p:txBody>
      </p:sp>
    </p:spTree>
    <p:extLst>
      <p:ext uri="{BB962C8B-B14F-4D97-AF65-F5344CB8AC3E}">
        <p14:creationId xmlns:p14="http://schemas.microsoft.com/office/powerpoint/2010/main" val="24492705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95516D7-1BE4-42FF-915C-DF82BCB40BA1}" type="datetimeFigureOut">
              <a:rPr lang="en-US" smtClean="0"/>
              <a:t>4/4/2026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F4498D-634D-45F6-B65F-DB7A81CF5FF8}" type="slidenum">
              <a:rPr lang="en-US" smtClean="0"/>
              <a:t>‹#›</a:t>
            </a:fld>
            <a:endParaRPr lang="en-US"/>
          </a:p>
        </p:txBody>
      </p:sp>
    </p:spTree>
    <p:extLst>
      <p:ext uri="{BB962C8B-B14F-4D97-AF65-F5344CB8AC3E}">
        <p14:creationId xmlns:p14="http://schemas.microsoft.com/office/powerpoint/2010/main" val="21517693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36617" y="-275363"/>
            <a:ext cx="9144000" cy="2387600"/>
          </a:xfrm>
        </p:spPr>
        <p:txBody>
          <a:bodyPr>
            <a:normAutofit/>
          </a:bodyPr>
          <a:lstStyle/>
          <a:p>
            <a:r>
              <a:rPr lang="en-US" sz="4000" b="1" dirty="0">
                <a:solidFill>
                  <a:srgbClr val="C00000"/>
                </a:solidFill>
                <a:effectLst>
                  <a:outerShdw blurRad="38100" dist="38100" dir="2700000" algn="tl">
                    <a:srgbClr val="000000">
                      <a:alpha val="43137"/>
                    </a:srgbClr>
                  </a:outerShdw>
                </a:effectLst>
              </a:rPr>
              <a:t>2025 6</a:t>
            </a:r>
            <a:r>
              <a:rPr lang="en-US" sz="4000" b="1" baseline="30000" dirty="0">
                <a:solidFill>
                  <a:srgbClr val="C00000"/>
                </a:solidFill>
                <a:effectLst>
                  <a:outerShdw blurRad="38100" dist="38100" dir="2700000" algn="tl">
                    <a:srgbClr val="000000">
                      <a:alpha val="43137"/>
                    </a:srgbClr>
                  </a:outerShdw>
                </a:effectLst>
              </a:rPr>
              <a:t>th</a:t>
            </a:r>
            <a:r>
              <a:rPr lang="en-US" sz="4000" b="1" dirty="0">
                <a:solidFill>
                  <a:srgbClr val="C00000"/>
                </a:solidFill>
                <a:effectLst>
                  <a:outerShdw blurRad="38100" dist="38100" dir="2700000" algn="tl">
                    <a:srgbClr val="000000">
                      <a:alpha val="43137"/>
                    </a:srgbClr>
                  </a:outerShdw>
                </a:effectLst>
              </a:rPr>
              <a:t>  GLOBAL CONFERENCE FOR ADVANCEMENT IN TECHNOLOGY</a:t>
            </a:r>
            <a:br>
              <a:rPr lang="en-US" sz="4000" b="1" dirty="0">
                <a:solidFill>
                  <a:srgbClr val="C00000"/>
                </a:solidFill>
                <a:effectLst>
                  <a:outerShdw blurRad="38100" dist="38100" dir="2700000" algn="tl">
                    <a:srgbClr val="000000">
                      <a:alpha val="43137"/>
                    </a:srgbClr>
                  </a:outerShdw>
                </a:effectLst>
              </a:rPr>
            </a:br>
            <a:r>
              <a:rPr lang="en-US" sz="4000" b="1" dirty="0">
                <a:solidFill>
                  <a:srgbClr val="00B050"/>
                </a:solidFill>
                <a:effectLst>
                  <a:outerShdw blurRad="38100" dist="38100" dir="2700000" algn="tl">
                    <a:srgbClr val="000000">
                      <a:alpha val="43137"/>
                    </a:srgbClr>
                  </a:outerShdw>
                </a:effectLst>
              </a:rPr>
              <a:t>(GCAT 2025)</a:t>
            </a:r>
          </a:p>
        </p:txBody>
      </p:sp>
      <p:sp>
        <p:nvSpPr>
          <p:cNvPr id="3" name="Subtitle 2"/>
          <p:cNvSpPr>
            <a:spLocks noGrp="1"/>
          </p:cNvSpPr>
          <p:nvPr>
            <p:ph type="subTitle" idx="1"/>
          </p:nvPr>
        </p:nvSpPr>
        <p:spPr>
          <a:xfrm>
            <a:off x="1524000" y="2304661"/>
            <a:ext cx="9144000" cy="4553339"/>
          </a:xfrm>
        </p:spPr>
        <p:txBody>
          <a:bodyPr>
            <a:normAutofit/>
          </a:bodyPr>
          <a:lstStyle/>
          <a:p>
            <a:r>
              <a:rPr lang="en-US" sz="4500" dirty="0" err="1"/>
              <a:t>DeepWaterSeg</a:t>
            </a:r>
            <a:r>
              <a:rPr lang="en-US" sz="4500" dirty="0"/>
              <a:t>: High-Resolution Satellite Imagery Analysis for Water Body Extraction Using </a:t>
            </a:r>
            <a:r>
              <a:rPr lang="en-US" sz="4500" dirty="0" err="1"/>
              <a:t>ResNet</a:t>
            </a:r>
            <a:r>
              <a:rPr lang="en-US" sz="4500" dirty="0"/>
              <a:t>-U-Net</a:t>
            </a:r>
          </a:p>
          <a:p>
            <a:r>
              <a:rPr lang="en-GB" b="1" spc="-1" dirty="0">
                <a:solidFill>
                  <a:srgbClr val="4C4C4C"/>
                </a:solidFill>
                <a:latin typeface="Arial"/>
              </a:rPr>
              <a:t>Paper ID: 2510</a:t>
            </a:r>
          </a:p>
          <a:p>
            <a:r>
              <a:rPr lang="en-GB" b="1" spc="-1" dirty="0">
                <a:solidFill>
                  <a:srgbClr val="4C4C4C"/>
                </a:solidFill>
                <a:latin typeface="Arial"/>
              </a:rPr>
              <a:t>PRESENTER NAME: ANJANEYA KUMAR RAMISETTY</a:t>
            </a:r>
          </a:p>
          <a:p>
            <a:r>
              <a:rPr lang="en-GB" b="1" spc="-1" dirty="0">
                <a:solidFill>
                  <a:srgbClr val="4C4C4C"/>
                </a:solidFill>
                <a:latin typeface="Arial"/>
              </a:rPr>
              <a:t>Affiliation:</a:t>
            </a:r>
            <a:r>
              <a:rPr lang="en-IN" dirty="0" err="1"/>
              <a:t>Narasaraopeta</a:t>
            </a:r>
            <a:r>
              <a:rPr lang="en-IN" dirty="0"/>
              <a:t> Engineering College (Autonomous), Narasaraopet-</a:t>
            </a:r>
            <a:r>
              <a:rPr lang="en-GB" b="1" spc="-1" dirty="0">
                <a:solidFill>
                  <a:srgbClr val="4C4C4C"/>
                </a:solidFill>
                <a:latin typeface="Arial"/>
              </a:rPr>
              <a:t> </a:t>
            </a:r>
            <a:r>
              <a:rPr lang="en-GB" spc="-1" dirty="0">
                <a:solidFill>
                  <a:srgbClr val="4C4C4C"/>
                </a:solidFill>
                <a:latin typeface="Arial"/>
              </a:rPr>
              <a:t>Affiliated by JNTUK</a:t>
            </a:r>
          </a:p>
          <a:p>
            <a:endParaRPr lang="en-GB" b="1" spc="-1" dirty="0">
              <a:solidFill>
                <a:srgbClr val="4C4C4C"/>
              </a:solidFill>
              <a:latin typeface="Arial"/>
            </a:endParaRP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149" y="281258"/>
            <a:ext cx="1637211" cy="868273"/>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39175" y="5572125"/>
            <a:ext cx="3552825" cy="1285875"/>
          </a:xfrm>
          <a:prstGeom prst="rect">
            <a:avLst/>
          </a:prstGeom>
        </p:spPr>
      </p:pic>
    </p:spTree>
    <p:extLst>
      <p:ext uri="{BB962C8B-B14F-4D97-AF65-F5344CB8AC3E}">
        <p14:creationId xmlns:p14="http://schemas.microsoft.com/office/powerpoint/2010/main" val="8989440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INDEX</a:t>
            </a:r>
            <a:r>
              <a:rPr lang="en-US" dirty="0"/>
              <a:t> </a:t>
            </a:r>
          </a:p>
        </p:txBody>
      </p:sp>
      <p:graphicFrame>
        <p:nvGraphicFramePr>
          <p:cNvPr id="4" name="Content Placeholder 3">
            <a:extLst>
              <a:ext uri="{FF2B5EF4-FFF2-40B4-BE49-F238E27FC236}">
                <a16:creationId xmlns:a16="http://schemas.microsoft.com/office/drawing/2014/main" id="{8845CC8A-4CF1-39F0-57D9-F693B81C6C63}"/>
              </a:ext>
            </a:extLst>
          </p:cNvPr>
          <p:cNvGraphicFramePr>
            <a:graphicFrameLocks noGrp="1"/>
          </p:cNvGraphicFramePr>
          <p:nvPr>
            <p:ph idx="1"/>
            <p:extLst>
              <p:ext uri="{D42A27DB-BD31-4B8C-83A1-F6EECF244321}">
                <p14:modId xmlns:p14="http://schemas.microsoft.com/office/powerpoint/2010/main" val="2519466087"/>
              </p:ext>
            </p:extLst>
          </p:nvPr>
        </p:nvGraphicFramePr>
        <p:xfrm>
          <a:off x="838200" y="1810139"/>
          <a:ext cx="10515600" cy="4081752"/>
        </p:xfrm>
        <a:graphic>
          <a:graphicData uri="http://schemas.openxmlformats.org/drawingml/2006/table">
            <a:tbl>
              <a:tblPr firstRow="1" bandRow="1">
                <a:tableStyleId>{5C22544A-7EE6-4342-B048-85BDC9FD1C3A}</a:tableStyleId>
              </a:tblPr>
              <a:tblGrid>
                <a:gridCol w="7792616">
                  <a:extLst>
                    <a:ext uri="{9D8B030D-6E8A-4147-A177-3AD203B41FA5}">
                      <a16:colId xmlns:a16="http://schemas.microsoft.com/office/drawing/2014/main" val="1648221930"/>
                    </a:ext>
                  </a:extLst>
                </a:gridCol>
                <a:gridCol w="2722984">
                  <a:extLst>
                    <a:ext uri="{9D8B030D-6E8A-4147-A177-3AD203B41FA5}">
                      <a16:colId xmlns:a16="http://schemas.microsoft.com/office/drawing/2014/main" val="2244090712"/>
                    </a:ext>
                  </a:extLst>
                </a:gridCol>
              </a:tblGrid>
              <a:tr h="372248">
                <a:tc>
                  <a:txBody>
                    <a:bodyPr/>
                    <a:lstStyle/>
                    <a:p>
                      <a:pPr algn="ctr"/>
                      <a:r>
                        <a:rPr lang="en-IN" dirty="0"/>
                        <a:t>Content</a:t>
                      </a:r>
                    </a:p>
                  </a:txBody>
                  <a:tcPr/>
                </a:tc>
                <a:tc>
                  <a:txBody>
                    <a:bodyPr/>
                    <a:lstStyle/>
                    <a:p>
                      <a:pPr algn="ctr"/>
                      <a:r>
                        <a:rPr lang="en-IN" dirty="0"/>
                        <a:t>Slide number</a:t>
                      </a:r>
                    </a:p>
                  </a:txBody>
                  <a:tcPr/>
                </a:tc>
                <a:extLst>
                  <a:ext uri="{0D108BD9-81ED-4DB2-BD59-A6C34878D82A}">
                    <a16:rowId xmlns:a16="http://schemas.microsoft.com/office/drawing/2014/main" val="2019948815"/>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Abstract &amp; Objective</a:t>
                      </a:r>
                    </a:p>
                  </a:txBody>
                  <a:tcPr/>
                </a:tc>
                <a:tc>
                  <a:txBody>
                    <a:bodyPr/>
                    <a:lstStyle/>
                    <a:p>
                      <a:pPr algn="ctr"/>
                      <a:r>
                        <a:rPr lang="en-IN" dirty="0"/>
                        <a:t>Slide 3</a:t>
                      </a:r>
                    </a:p>
                  </a:txBody>
                  <a:tcPr/>
                </a:tc>
                <a:extLst>
                  <a:ext uri="{0D108BD9-81ED-4DB2-BD59-A6C34878D82A}">
                    <a16:rowId xmlns:a16="http://schemas.microsoft.com/office/drawing/2014/main" val="854003965"/>
                  </a:ext>
                </a:extLst>
              </a:tr>
              <a:tr h="372248">
                <a:tc>
                  <a:txBody>
                    <a:bodyPr/>
                    <a:lstStyle/>
                    <a:p>
                      <a:pPr algn="ctr"/>
                      <a:r>
                        <a:rPr lang="en-IN" dirty="0"/>
                        <a:t>Introduction</a:t>
                      </a:r>
                    </a:p>
                  </a:txBody>
                  <a:tcPr/>
                </a:tc>
                <a:tc>
                  <a:txBody>
                    <a:bodyPr/>
                    <a:lstStyle/>
                    <a:p>
                      <a:pPr algn="ctr"/>
                      <a:r>
                        <a:rPr lang="en-IN" dirty="0"/>
                        <a:t>Slide 4</a:t>
                      </a:r>
                    </a:p>
                  </a:txBody>
                  <a:tcPr/>
                </a:tc>
                <a:extLst>
                  <a:ext uri="{0D108BD9-81ED-4DB2-BD59-A6C34878D82A}">
                    <a16:rowId xmlns:a16="http://schemas.microsoft.com/office/drawing/2014/main" val="850574883"/>
                  </a:ext>
                </a:extLst>
              </a:tr>
              <a:tr h="372248">
                <a:tc>
                  <a:txBody>
                    <a:bodyPr/>
                    <a:lstStyle/>
                    <a:p>
                      <a:pPr algn="ctr"/>
                      <a:r>
                        <a:rPr lang="en-IN" dirty="0"/>
                        <a:t>Problem Statement &amp; Motivation </a:t>
                      </a:r>
                    </a:p>
                  </a:txBody>
                  <a:tcPr/>
                </a:tc>
                <a:tc>
                  <a:txBody>
                    <a:bodyPr/>
                    <a:lstStyle/>
                    <a:p>
                      <a:pPr algn="ctr"/>
                      <a:r>
                        <a:rPr lang="en-IN" dirty="0"/>
                        <a:t>Slide 5</a:t>
                      </a:r>
                    </a:p>
                  </a:txBody>
                  <a:tcPr/>
                </a:tc>
                <a:extLst>
                  <a:ext uri="{0D108BD9-81ED-4DB2-BD59-A6C34878D82A}">
                    <a16:rowId xmlns:a16="http://schemas.microsoft.com/office/drawing/2014/main" val="758115996"/>
                  </a:ext>
                </a:extLst>
              </a:tr>
              <a:tr h="372248">
                <a:tc>
                  <a:txBody>
                    <a:bodyPr/>
                    <a:lstStyle/>
                    <a:p>
                      <a:pPr algn="ctr"/>
                      <a:r>
                        <a:rPr lang="en-IN" dirty="0"/>
                        <a:t>Literature Review</a:t>
                      </a:r>
                    </a:p>
                  </a:txBody>
                  <a:tcPr/>
                </a:tc>
                <a:tc>
                  <a:txBody>
                    <a:bodyPr/>
                    <a:lstStyle/>
                    <a:p>
                      <a:pPr algn="ctr"/>
                      <a:r>
                        <a:rPr lang="en-IN" dirty="0"/>
                        <a:t>slide 6</a:t>
                      </a:r>
                    </a:p>
                  </a:txBody>
                  <a:tcPr/>
                </a:tc>
                <a:extLst>
                  <a:ext uri="{0D108BD9-81ED-4DB2-BD59-A6C34878D82A}">
                    <a16:rowId xmlns:a16="http://schemas.microsoft.com/office/drawing/2014/main" val="1708134572"/>
                  </a:ext>
                </a:extLst>
              </a:tr>
              <a:tr h="372248">
                <a:tc>
                  <a:txBody>
                    <a:bodyPr/>
                    <a:lstStyle/>
                    <a:p>
                      <a:pPr algn="ctr"/>
                      <a:r>
                        <a:rPr lang="en-IN" dirty="0"/>
                        <a:t>Dataset &amp; Preprocessing</a:t>
                      </a:r>
                    </a:p>
                  </a:txBody>
                  <a:tcPr/>
                </a:tc>
                <a:tc>
                  <a:txBody>
                    <a:bodyPr/>
                    <a:lstStyle/>
                    <a:p>
                      <a:pPr algn="ctr"/>
                      <a:r>
                        <a:rPr lang="en-IN" dirty="0"/>
                        <a:t>Slide 7</a:t>
                      </a:r>
                    </a:p>
                  </a:txBody>
                  <a:tcPr/>
                </a:tc>
                <a:extLst>
                  <a:ext uri="{0D108BD9-81ED-4DB2-BD59-A6C34878D82A}">
                    <a16:rowId xmlns:a16="http://schemas.microsoft.com/office/drawing/2014/main" val="2394500335"/>
                  </a:ext>
                </a:extLst>
              </a:tr>
              <a:tr h="372248">
                <a:tc>
                  <a:txBody>
                    <a:bodyPr/>
                    <a:lstStyle/>
                    <a:p>
                      <a:pPr algn="ctr"/>
                      <a:r>
                        <a:rPr lang="en-IN" dirty="0"/>
                        <a:t>Proposed Methodology</a:t>
                      </a:r>
                    </a:p>
                  </a:txBody>
                  <a:tcPr/>
                </a:tc>
                <a:tc>
                  <a:txBody>
                    <a:bodyPr/>
                    <a:lstStyle/>
                    <a:p>
                      <a:pPr algn="ctr"/>
                      <a:r>
                        <a:rPr lang="en-IN" dirty="0"/>
                        <a:t>Slide 8</a:t>
                      </a:r>
                    </a:p>
                  </a:txBody>
                  <a:tcPr/>
                </a:tc>
                <a:extLst>
                  <a:ext uri="{0D108BD9-81ED-4DB2-BD59-A6C34878D82A}">
                    <a16:rowId xmlns:a16="http://schemas.microsoft.com/office/drawing/2014/main" val="2765570830"/>
                  </a:ext>
                </a:extLst>
              </a:tr>
              <a:tr h="372248">
                <a:tc>
                  <a:txBody>
                    <a:bodyPr/>
                    <a:lstStyle/>
                    <a:p>
                      <a:pPr algn="ctr"/>
                      <a:r>
                        <a:rPr lang="en-IN" dirty="0"/>
                        <a:t>Training Configuration</a:t>
                      </a:r>
                    </a:p>
                  </a:txBody>
                  <a:tcPr/>
                </a:tc>
                <a:tc>
                  <a:txBody>
                    <a:bodyPr/>
                    <a:lstStyle/>
                    <a:p>
                      <a:pPr algn="ctr"/>
                      <a:r>
                        <a:rPr lang="en-IN" dirty="0"/>
                        <a:t>Slide 9</a:t>
                      </a:r>
                    </a:p>
                  </a:txBody>
                  <a:tcPr/>
                </a:tc>
                <a:extLst>
                  <a:ext uri="{0D108BD9-81ED-4DB2-BD59-A6C34878D82A}">
                    <a16:rowId xmlns:a16="http://schemas.microsoft.com/office/drawing/2014/main" val="112576975"/>
                  </a:ext>
                </a:extLst>
              </a:tr>
              <a:tr h="372248">
                <a:tc>
                  <a:txBody>
                    <a:bodyPr/>
                    <a:lstStyle/>
                    <a:p>
                      <a:pPr algn="ctr"/>
                      <a:r>
                        <a:rPr lang="en-IN" dirty="0"/>
                        <a:t>Results &amp; Evaluation</a:t>
                      </a:r>
                    </a:p>
                  </a:txBody>
                  <a:tcPr/>
                </a:tc>
                <a:tc>
                  <a:txBody>
                    <a:bodyPr/>
                    <a:lstStyle/>
                    <a:p>
                      <a:pPr algn="ctr"/>
                      <a:r>
                        <a:rPr lang="en-IN" dirty="0"/>
                        <a:t>Slide 10</a:t>
                      </a:r>
                    </a:p>
                  </a:txBody>
                  <a:tcPr/>
                </a:tc>
                <a:extLst>
                  <a:ext uri="{0D108BD9-81ED-4DB2-BD59-A6C34878D82A}">
                    <a16:rowId xmlns:a16="http://schemas.microsoft.com/office/drawing/2014/main" val="1575558482"/>
                  </a:ext>
                </a:extLst>
              </a:tr>
              <a:tr h="372248">
                <a:tc>
                  <a:txBody>
                    <a:bodyPr/>
                    <a:lstStyle/>
                    <a:p>
                      <a:pPr algn="ctr"/>
                      <a:r>
                        <a:rPr lang="en-IN" dirty="0"/>
                        <a:t>Comparison with Other Works</a:t>
                      </a:r>
                    </a:p>
                  </a:txBody>
                  <a:tcPr/>
                </a:tc>
                <a:tc>
                  <a:txBody>
                    <a:bodyPr/>
                    <a:lstStyle/>
                    <a:p>
                      <a:pPr algn="ctr"/>
                      <a:r>
                        <a:rPr lang="en-IN" dirty="0"/>
                        <a:t>Slide 11</a:t>
                      </a:r>
                    </a:p>
                  </a:txBody>
                  <a:tcPr/>
                </a:tc>
                <a:extLst>
                  <a:ext uri="{0D108BD9-81ED-4DB2-BD59-A6C34878D82A}">
                    <a16:rowId xmlns:a16="http://schemas.microsoft.com/office/drawing/2014/main" val="2380796714"/>
                  </a:ext>
                </a:extLst>
              </a:tr>
              <a:tr h="0">
                <a:tc>
                  <a:txBody>
                    <a:bodyPr/>
                    <a:lstStyle/>
                    <a:p>
                      <a:pPr algn="ctr"/>
                      <a:r>
                        <a:rPr lang="en-IN" dirty="0"/>
                        <a:t>Applications ,Impact &amp; Conclusion </a:t>
                      </a:r>
                    </a:p>
                  </a:txBody>
                  <a:tcPr/>
                </a:tc>
                <a:tc>
                  <a:txBody>
                    <a:bodyPr/>
                    <a:lstStyle/>
                    <a:p>
                      <a:pPr algn="ctr"/>
                      <a:r>
                        <a:rPr lang="en-IN" dirty="0"/>
                        <a:t>Slides 12 &amp; 13</a:t>
                      </a:r>
                    </a:p>
                  </a:txBody>
                  <a:tcPr/>
                </a:tc>
                <a:extLst>
                  <a:ext uri="{0D108BD9-81ED-4DB2-BD59-A6C34878D82A}">
                    <a16:rowId xmlns:a16="http://schemas.microsoft.com/office/drawing/2014/main" val="2742220535"/>
                  </a:ext>
                </a:extLst>
              </a:tr>
            </a:tbl>
          </a:graphicData>
        </a:graphic>
      </p:graphicFrame>
    </p:spTree>
    <p:extLst>
      <p:ext uri="{BB962C8B-B14F-4D97-AF65-F5344CB8AC3E}">
        <p14:creationId xmlns:p14="http://schemas.microsoft.com/office/powerpoint/2010/main" val="7789187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607D3-C418-3389-851E-9277E3FC05CC}"/>
              </a:ext>
            </a:extLst>
          </p:cNvPr>
          <p:cNvSpPr>
            <a:spLocks noGrp="1"/>
          </p:cNvSpPr>
          <p:nvPr>
            <p:ph type="title"/>
          </p:nvPr>
        </p:nvSpPr>
        <p:spPr/>
        <p:txBody>
          <a:bodyPr/>
          <a:lstStyle/>
          <a:p>
            <a:pPr lvl="0" algn="ctr">
              <a:lnSpc>
                <a:spcPct val="100000"/>
              </a:lnSpc>
              <a:spcBef>
                <a:spcPts val="0"/>
              </a:spcBef>
              <a:defRPr/>
            </a:pPr>
            <a:r>
              <a:rPr lang="en-IN" dirty="0"/>
              <a:t>Abstract &amp; Objective</a:t>
            </a:r>
          </a:p>
        </p:txBody>
      </p:sp>
      <p:sp>
        <p:nvSpPr>
          <p:cNvPr id="3" name="Content Placeholder 2">
            <a:extLst>
              <a:ext uri="{FF2B5EF4-FFF2-40B4-BE49-F238E27FC236}">
                <a16:creationId xmlns:a16="http://schemas.microsoft.com/office/drawing/2014/main" id="{78D2D339-87E1-5DB7-9271-DC3E0CB4C6DD}"/>
              </a:ext>
            </a:extLst>
          </p:cNvPr>
          <p:cNvSpPr>
            <a:spLocks noGrp="1"/>
          </p:cNvSpPr>
          <p:nvPr>
            <p:ph idx="1"/>
          </p:nvPr>
        </p:nvSpPr>
        <p:spPr/>
        <p:txBody>
          <a:bodyPr>
            <a:normAutofit fontScale="92500" lnSpcReduction="10000"/>
          </a:bodyPr>
          <a:lstStyle/>
          <a:p>
            <a:r>
              <a:rPr lang="en-US" dirty="0"/>
              <a:t>The proposed research, </a:t>
            </a:r>
            <a:r>
              <a:rPr lang="en-US" i="1" dirty="0" err="1"/>
              <a:t>DeepWaterSeg</a:t>
            </a:r>
            <a:r>
              <a:rPr lang="en-US" dirty="0"/>
              <a:t>, introduces a deep learning model for accurate water body segmentation using high-resolution satellite imagery. It integrates a </a:t>
            </a:r>
            <a:r>
              <a:rPr lang="en-US" b="1" dirty="0"/>
              <a:t>ResNet50-based U-Net architecture</a:t>
            </a:r>
            <a:r>
              <a:rPr lang="en-US" dirty="0"/>
              <a:t> to detect and map diverse water bodies such as rivers, ponds, and lakes across complex terrains. Traditional methods are slow and less precise, whereas this model achieves </a:t>
            </a:r>
            <a:r>
              <a:rPr lang="en-US" b="1" dirty="0"/>
              <a:t>96% pixel-wise precision</a:t>
            </a:r>
            <a:r>
              <a:rPr lang="en-US" dirty="0"/>
              <a:t> and </a:t>
            </a:r>
            <a:r>
              <a:rPr lang="en-US" b="1" dirty="0"/>
              <a:t>92% accuracy</a:t>
            </a:r>
            <a:r>
              <a:rPr lang="en-US" dirty="0"/>
              <a:t>, effectively identifying even thin or narrow water structures. The system’s robustness enables large-scale, near–real-time water mapping, which is crucial for </a:t>
            </a:r>
            <a:r>
              <a:rPr lang="en-US" b="1" dirty="0"/>
              <a:t>disaster management</a:t>
            </a:r>
            <a:r>
              <a:rPr lang="en-US" dirty="0"/>
              <a:t>, </a:t>
            </a:r>
            <a:r>
              <a:rPr lang="en-US" b="1" dirty="0"/>
              <a:t>resource allocation</a:t>
            </a:r>
            <a:r>
              <a:rPr lang="en-US" dirty="0"/>
              <a:t>, and </a:t>
            </a:r>
            <a:r>
              <a:rPr lang="en-US" b="1" dirty="0"/>
              <a:t>aquatic ecosystem conservation</a:t>
            </a:r>
            <a:r>
              <a:rPr lang="en-US" dirty="0"/>
              <a:t>. The objective is to develop a reliable, automated segmentation framework that supports sustainable water management and enhances ecological monitoring through deep learning and remote sensing technologies.</a:t>
            </a:r>
            <a:endParaRPr lang="en-IN" dirty="0"/>
          </a:p>
        </p:txBody>
      </p:sp>
    </p:spTree>
    <p:extLst>
      <p:ext uri="{BB962C8B-B14F-4D97-AF65-F5344CB8AC3E}">
        <p14:creationId xmlns:p14="http://schemas.microsoft.com/office/powerpoint/2010/main" val="34774837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92AFF0-CC5D-A96D-4F0F-4B3B224D522F}"/>
              </a:ext>
            </a:extLst>
          </p:cNvPr>
          <p:cNvSpPr>
            <a:spLocks noGrp="1"/>
          </p:cNvSpPr>
          <p:nvPr>
            <p:ph type="title"/>
          </p:nvPr>
        </p:nvSpPr>
        <p:spPr>
          <a:xfrm>
            <a:off x="839788" y="485191"/>
            <a:ext cx="11224726" cy="751114"/>
          </a:xfrm>
        </p:spPr>
        <p:txBody>
          <a:bodyPr>
            <a:normAutofit/>
          </a:bodyPr>
          <a:lstStyle/>
          <a:p>
            <a:pPr algn="ctr"/>
            <a:r>
              <a:rPr lang="en-IN" sz="4500" dirty="0"/>
              <a:t>Introduction</a:t>
            </a:r>
          </a:p>
        </p:txBody>
      </p:sp>
      <p:pic>
        <p:nvPicPr>
          <p:cNvPr id="8" name="Picture Placeholder 7">
            <a:extLst>
              <a:ext uri="{FF2B5EF4-FFF2-40B4-BE49-F238E27FC236}">
                <a16:creationId xmlns:a16="http://schemas.microsoft.com/office/drawing/2014/main" id="{924C24A9-AD69-7734-A270-AFFC5F0BE239}"/>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t="209" b="209"/>
          <a:stretch>
            <a:fillRect/>
          </a:stretch>
        </p:blipFill>
        <p:spPr>
          <a:xfrm>
            <a:off x="7241163" y="2342147"/>
            <a:ext cx="4823837" cy="2817682"/>
          </a:xfrm>
        </p:spPr>
      </p:pic>
      <p:sp>
        <p:nvSpPr>
          <p:cNvPr id="4" name="Text Placeholder 3">
            <a:extLst>
              <a:ext uri="{FF2B5EF4-FFF2-40B4-BE49-F238E27FC236}">
                <a16:creationId xmlns:a16="http://schemas.microsoft.com/office/drawing/2014/main" id="{2AF48326-EE2F-0F5B-A4B8-48830B3BBFFB}"/>
              </a:ext>
            </a:extLst>
          </p:cNvPr>
          <p:cNvSpPr>
            <a:spLocks noGrp="1"/>
          </p:cNvSpPr>
          <p:nvPr>
            <p:ph type="body" sz="half" idx="2"/>
          </p:nvPr>
        </p:nvSpPr>
        <p:spPr>
          <a:xfrm>
            <a:off x="815878" y="1455576"/>
            <a:ext cx="6788571" cy="4455400"/>
          </a:xfrm>
        </p:spPr>
        <p:txBody>
          <a:bodyPr>
            <a:noAutofit/>
          </a:bodyPr>
          <a:lstStyle/>
          <a:p>
            <a:r>
              <a:rPr lang="en-US" sz="2000" dirty="0"/>
              <a:t>Water bodies such as lakes, rivers, and ponds play a vital role in maintaining ecological balance, supporting biodiversity, and providing essential resources for agriculture, industry, and domestic use. Accurate identification and monitoring of these water bodies are crucial for effective disaster management, climate regulation, and sustainable water resource planning. Traditional methods of water body detection are often slow and inefficient, especially during natural disasters like floods. Recent advancements in remote sensing and deep learning have made it possible to automate this process with greater accuracy and speed. However, challenges such as varying water color, seasonal changes, and complex terrain still affect detection accuracy. To address these challenges, this research proposes a </a:t>
            </a:r>
            <a:r>
              <a:rPr lang="en-US" sz="2000" b="1" dirty="0"/>
              <a:t>ResNet50-based U-Net architecture</a:t>
            </a:r>
            <a:r>
              <a:rPr lang="en-US" sz="2000" dirty="0"/>
              <a:t> capable of delivering precise, real-time water body segmentation from high-resolution satellite imagery.</a:t>
            </a:r>
            <a:endParaRPr lang="en-IN" sz="2000" dirty="0"/>
          </a:p>
        </p:txBody>
      </p:sp>
    </p:spTree>
    <p:extLst>
      <p:ext uri="{BB962C8B-B14F-4D97-AF65-F5344CB8AC3E}">
        <p14:creationId xmlns:p14="http://schemas.microsoft.com/office/powerpoint/2010/main" val="24787692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00F1C-42E0-6E07-3998-732432CD90BC}"/>
              </a:ext>
            </a:extLst>
          </p:cNvPr>
          <p:cNvSpPr>
            <a:spLocks noGrp="1"/>
          </p:cNvSpPr>
          <p:nvPr>
            <p:ph type="title"/>
          </p:nvPr>
        </p:nvSpPr>
        <p:spPr/>
        <p:txBody>
          <a:bodyPr/>
          <a:lstStyle/>
          <a:p>
            <a:r>
              <a:rPr lang="en-IN" dirty="0"/>
              <a:t>Problem statement and motivation</a:t>
            </a:r>
          </a:p>
        </p:txBody>
      </p:sp>
      <p:sp>
        <p:nvSpPr>
          <p:cNvPr id="3" name="Content Placeholder 2">
            <a:extLst>
              <a:ext uri="{FF2B5EF4-FFF2-40B4-BE49-F238E27FC236}">
                <a16:creationId xmlns:a16="http://schemas.microsoft.com/office/drawing/2014/main" id="{0C3FEA2B-EB80-175C-4B84-3897003E9D5C}"/>
              </a:ext>
            </a:extLst>
          </p:cNvPr>
          <p:cNvSpPr>
            <a:spLocks noGrp="1"/>
          </p:cNvSpPr>
          <p:nvPr>
            <p:ph idx="1"/>
          </p:nvPr>
        </p:nvSpPr>
        <p:spPr/>
        <p:txBody>
          <a:bodyPr/>
          <a:lstStyle/>
          <a:p>
            <a:endParaRPr lang="en-US" dirty="0"/>
          </a:p>
          <a:p>
            <a:r>
              <a:rPr lang="en-US" dirty="0"/>
              <a:t>Detecting water bodies from satellite images is difficult due to variations in color, terrain, and seasonal changes.</a:t>
            </a:r>
          </a:p>
          <a:p>
            <a:r>
              <a:rPr lang="en-US" dirty="0"/>
              <a:t>Traditional methods struggle to accurately capture narrow and complex boundaries.</a:t>
            </a:r>
          </a:p>
          <a:p>
            <a:r>
              <a:rPr lang="en-US" b="1" dirty="0" err="1"/>
              <a:t>DeepWaterSeg</a:t>
            </a:r>
            <a:r>
              <a:rPr lang="en-US" dirty="0"/>
              <a:t>, integrating </a:t>
            </a:r>
            <a:r>
              <a:rPr lang="en-US" b="1" dirty="0"/>
              <a:t>ResNet50 and U-Net</a:t>
            </a:r>
            <a:r>
              <a:rPr lang="en-US" dirty="0"/>
              <a:t>, provides precise and automated detection to support disaster management and ecosystem monitoring.</a:t>
            </a:r>
            <a:endParaRPr lang="en-IN" dirty="0"/>
          </a:p>
        </p:txBody>
      </p:sp>
    </p:spTree>
    <p:extLst>
      <p:ext uri="{BB962C8B-B14F-4D97-AF65-F5344CB8AC3E}">
        <p14:creationId xmlns:p14="http://schemas.microsoft.com/office/powerpoint/2010/main" val="21999924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B59E1-4D12-1F00-CED2-002D6DD75672}"/>
              </a:ext>
            </a:extLst>
          </p:cNvPr>
          <p:cNvSpPr>
            <a:spLocks noGrp="1"/>
          </p:cNvSpPr>
          <p:nvPr>
            <p:ph type="title"/>
          </p:nvPr>
        </p:nvSpPr>
        <p:spPr/>
        <p:txBody>
          <a:bodyPr/>
          <a:lstStyle/>
          <a:p>
            <a:r>
              <a:rPr lang="en-US" b="1" dirty="0"/>
              <a:t>Literature Review</a:t>
            </a:r>
            <a:endParaRPr lang="en-IN" dirty="0"/>
          </a:p>
        </p:txBody>
      </p:sp>
      <p:sp>
        <p:nvSpPr>
          <p:cNvPr id="3" name="Content Placeholder 2">
            <a:extLst>
              <a:ext uri="{FF2B5EF4-FFF2-40B4-BE49-F238E27FC236}">
                <a16:creationId xmlns:a16="http://schemas.microsoft.com/office/drawing/2014/main" id="{DD54929F-B4C4-44BE-411D-B14F0CE5959A}"/>
              </a:ext>
            </a:extLst>
          </p:cNvPr>
          <p:cNvSpPr>
            <a:spLocks noGrp="1"/>
          </p:cNvSpPr>
          <p:nvPr>
            <p:ph idx="1"/>
          </p:nvPr>
        </p:nvSpPr>
        <p:spPr>
          <a:xfrm>
            <a:off x="838200" y="1825625"/>
            <a:ext cx="10515600" cy="3884710"/>
          </a:xfrm>
        </p:spPr>
        <p:txBody>
          <a:bodyPr>
            <a:normAutofit lnSpcReduction="10000"/>
          </a:bodyPr>
          <a:lstStyle/>
          <a:p>
            <a:endParaRPr lang="en-IN" dirty="0"/>
          </a:p>
          <a:p>
            <a:r>
              <a:rPr lang="en-IN" dirty="0"/>
              <a:t>Recent models like </a:t>
            </a:r>
            <a:r>
              <a:rPr lang="en-IN" b="1" dirty="0"/>
              <a:t>DMLU-Net</a:t>
            </a:r>
            <a:r>
              <a:rPr lang="en-IN" dirty="0"/>
              <a:t>, </a:t>
            </a:r>
            <a:r>
              <a:rPr lang="en-IN" b="1" dirty="0" err="1"/>
              <a:t>SDNet</a:t>
            </a:r>
            <a:r>
              <a:rPr lang="en-IN" dirty="0"/>
              <a:t>, and </a:t>
            </a:r>
            <a:r>
              <a:rPr lang="en-IN" b="1" dirty="0"/>
              <a:t>AER U-Net</a:t>
            </a:r>
            <a:r>
              <a:rPr lang="en-IN" dirty="0"/>
              <a:t> enhanced segmentation using dual encoders and attention mechanisms.</a:t>
            </a:r>
          </a:p>
          <a:p>
            <a:r>
              <a:rPr lang="en-US" dirty="0"/>
              <a:t>These models often face challenges such as </a:t>
            </a:r>
            <a:r>
              <a:rPr lang="en-US" b="1" dirty="0"/>
              <a:t>high computational cost</a:t>
            </a:r>
            <a:r>
              <a:rPr lang="en-US" dirty="0"/>
              <a:t> and </a:t>
            </a:r>
            <a:r>
              <a:rPr lang="en-US" b="1" dirty="0"/>
              <a:t>poor generalization</a:t>
            </a:r>
            <a:r>
              <a:rPr lang="en-US" dirty="0"/>
              <a:t>.</a:t>
            </a:r>
          </a:p>
          <a:p>
            <a:r>
              <a:rPr lang="en-US" dirty="0" err="1"/>
              <a:t>DeepWaterSeg</a:t>
            </a:r>
            <a:r>
              <a:rPr lang="en-US" dirty="0"/>
              <a:t> uses a </a:t>
            </a:r>
            <a:r>
              <a:rPr lang="en-US" b="1" dirty="0"/>
              <a:t>ResNet50 backbone with U-Net decoding</a:t>
            </a:r>
            <a:r>
              <a:rPr lang="en-US" dirty="0"/>
              <a:t>, utilizing pretrained features for accuracy and efficiency.</a:t>
            </a:r>
          </a:p>
          <a:p>
            <a:r>
              <a:rPr lang="en-US" dirty="0"/>
              <a:t>It achieves </a:t>
            </a:r>
            <a:r>
              <a:rPr lang="en-US" b="1" dirty="0"/>
              <a:t>higher precision, lower complexity, and faster convergence</a:t>
            </a:r>
            <a:r>
              <a:rPr lang="en-US" dirty="0"/>
              <a:t> across diverse, high-resolution datasets.</a:t>
            </a:r>
            <a:endParaRPr lang="en-IN" dirty="0"/>
          </a:p>
        </p:txBody>
      </p:sp>
    </p:spTree>
    <p:extLst>
      <p:ext uri="{BB962C8B-B14F-4D97-AF65-F5344CB8AC3E}">
        <p14:creationId xmlns:p14="http://schemas.microsoft.com/office/powerpoint/2010/main" val="34954044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E42A2-0913-E232-5AC5-E3ADCD17238F}"/>
              </a:ext>
            </a:extLst>
          </p:cNvPr>
          <p:cNvSpPr>
            <a:spLocks noGrp="1"/>
          </p:cNvSpPr>
          <p:nvPr>
            <p:ph type="title"/>
          </p:nvPr>
        </p:nvSpPr>
        <p:spPr>
          <a:xfrm>
            <a:off x="838200" y="365126"/>
            <a:ext cx="10515600" cy="1053128"/>
          </a:xfrm>
        </p:spPr>
        <p:txBody>
          <a:bodyPr/>
          <a:lstStyle/>
          <a:p>
            <a:r>
              <a:rPr lang="en-IN" dirty="0"/>
              <a:t>             Dataset                       Preprocessing</a:t>
            </a:r>
          </a:p>
        </p:txBody>
      </p:sp>
      <p:sp>
        <p:nvSpPr>
          <p:cNvPr id="3" name="Content Placeholder 2">
            <a:extLst>
              <a:ext uri="{FF2B5EF4-FFF2-40B4-BE49-F238E27FC236}">
                <a16:creationId xmlns:a16="http://schemas.microsoft.com/office/drawing/2014/main" id="{12748692-480E-6C9A-B719-4A4C4363FB56}"/>
              </a:ext>
            </a:extLst>
          </p:cNvPr>
          <p:cNvSpPr>
            <a:spLocks noGrp="1"/>
          </p:cNvSpPr>
          <p:nvPr>
            <p:ph sz="half" idx="1"/>
          </p:nvPr>
        </p:nvSpPr>
        <p:spPr>
          <a:xfrm>
            <a:off x="838200" y="1679510"/>
            <a:ext cx="5181600" cy="4497453"/>
          </a:xfrm>
        </p:spPr>
        <p:txBody>
          <a:bodyPr>
            <a:normAutofit fontScale="85000" lnSpcReduction="20000"/>
          </a:bodyPr>
          <a:lstStyle/>
          <a:p>
            <a:r>
              <a:rPr lang="en-US" dirty="0"/>
              <a:t>The dataset, obtained from </a:t>
            </a:r>
            <a:r>
              <a:rPr lang="en-US" b="1" dirty="0"/>
              <a:t>Kaggle</a:t>
            </a:r>
            <a:r>
              <a:rPr lang="en-US" dirty="0"/>
              <a:t>, comprises </a:t>
            </a:r>
            <a:r>
              <a:rPr lang="en-US" b="1" dirty="0"/>
              <a:t>2,481 high-resolution satellite images</a:t>
            </a:r>
            <a:r>
              <a:rPr lang="en-US" dirty="0"/>
              <a:t> paired with ground-truth masks. It captures a wide range of terrains and waterbody types, including </a:t>
            </a:r>
            <a:r>
              <a:rPr lang="en-US" b="1" dirty="0"/>
              <a:t>blue freshwater</a:t>
            </a:r>
            <a:r>
              <a:rPr lang="en-US" dirty="0"/>
              <a:t>, </a:t>
            </a:r>
            <a:r>
              <a:rPr lang="en-US" b="1" dirty="0"/>
              <a:t>green algae</a:t>
            </a:r>
            <a:r>
              <a:rPr lang="en-US" dirty="0"/>
              <a:t>, and </a:t>
            </a:r>
            <a:r>
              <a:rPr lang="en-US" b="1" dirty="0"/>
              <a:t>murky leachate</a:t>
            </a:r>
            <a:r>
              <a:rPr lang="en-US" dirty="0"/>
              <a:t>, allowing the model to adapt across varied environmental conditions. The diverse visual characteristics ensure robust feature learning and better generalization. This rich dataset serves as a comprehensive foundation for training </a:t>
            </a:r>
            <a:r>
              <a:rPr lang="en-US" dirty="0" err="1"/>
              <a:t>DeepWaterSeg</a:t>
            </a:r>
            <a:r>
              <a:rPr lang="en-US" dirty="0"/>
              <a:t> to perform accurately across mixed geographic and climatic landscapes.</a:t>
            </a:r>
            <a:endParaRPr lang="en-IN" dirty="0"/>
          </a:p>
        </p:txBody>
      </p:sp>
      <p:sp>
        <p:nvSpPr>
          <p:cNvPr id="4" name="Content Placeholder 3">
            <a:extLst>
              <a:ext uri="{FF2B5EF4-FFF2-40B4-BE49-F238E27FC236}">
                <a16:creationId xmlns:a16="http://schemas.microsoft.com/office/drawing/2014/main" id="{CFCB2537-D47A-D4DD-0CB7-C01E00AA745A}"/>
              </a:ext>
            </a:extLst>
          </p:cNvPr>
          <p:cNvSpPr>
            <a:spLocks noGrp="1"/>
          </p:cNvSpPr>
          <p:nvPr>
            <p:ph sz="half" idx="2"/>
          </p:nvPr>
        </p:nvSpPr>
        <p:spPr>
          <a:xfrm>
            <a:off x="6172200" y="1679510"/>
            <a:ext cx="5181600" cy="4497453"/>
          </a:xfrm>
        </p:spPr>
        <p:txBody>
          <a:bodyPr>
            <a:normAutofit fontScale="85000" lnSpcReduction="20000"/>
          </a:bodyPr>
          <a:lstStyle/>
          <a:p>
            <a:r>
              <a:rPr lang="en-US" dirty="0"/>
              <a:t>The preprocessing pipeline includes </a:t>
            </a:r>
            <a:r>
              <a:rPr lang="en-US" b="1" dirty="0"/>
              <a:t>RGB conversion</a:t>
            </a:r>
            <a:r>
              <a:rPr lang="en-US" dirty="0"/>
              <a:t>, </a:t>
            </a:r>
            <a:r>
              <a:rPr lang="en-US" b="1" dirty="0"/>
              <a:t>grayscale mask generation</a:t>
            </a:r>
            <a:r>
              <a:rPr lang="en-US" dirty="0"/>
              <a:t>, and </a:t>
            </a:r>
            <a:r>
              <a:rPr lang="en-US" b="1" dirty="0"/>
              <a:t>resizing all images to 256×256 pixels</a:t>
            </a:r>
            <a:r>
              <a:rPr lang="en-US" dirty="0"/>
              <a:t>. Pixel values are </a:t>
            </a:r>
            <a:r>
              <a:rPr lang="en-US" b="1" dirty="0"/>
              <a:t>normalized to a 0–1 range</a:t>
            </a:r>
            <a:r>
              <a:rPr lang="en-US" dirty="0"/>
              <a:t>, and mask dimensions are expanded for compatibility with the ResNet50 backbone. Additional enhancement steps remove shadows, reduce color distortion, and sharpen water boundaries. These preprocessing measures ensure uniform input quality, align with ResNet50’s input expectations, and significantly enhance segmentation accuracy across varied water types and terrain complexities.</a:t>
            </a:r>
            <a:endParaRPr lang="en-IN" dirty="0"/>
          </a:p>
        </p:txBody>
      </p:sp>
    </p:spTree>
    <p:extLst>
      <p:ext uri="{BB962C8B-B14F-4D97-AF65-F5344CB8AC3E}">
        <p14:creationId xmlns:p14="http://schemas.microsoft.com/office/powerpoint/2010/main" val="17172643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C320E-A628-F9FD-D678-4F1DF3DFEC7D}"/>
              </a:ext>
            </a:extLst>
          </p:cNvPr>
          <p:cNvSpPr>
            <a:spLocks noGrp="1"/>
          </p:cNvSpPr>
          <p:nvPr>
            <p:ph type="title"/>
          </p:nvPr>
        </p:nvSpPr>
        <p:spPr/>
        <p:txBody>
          <a:bodyPr/>
          <a:lstStyle/>
          <a:p>
            <a:r>
              <a:rPr lang="en-IN" dirty="0"/>
              <a:t>Proposed Methodology</a:t>
            </a:r>
          </a:p>
        </p:txBody>
      </p:sp>
      <p:sp>
        <p:nvSpPr>
          <p:cNvPr id="3" name="Content Placeholder 2">
            <a:extLst>
              <a:ext uri="{FF2B5EF4-FFF2-40B4-BE49-F238E27FC236}">
                <a16:creationId xmlns:a16="http://schemas.microsoft.com/office/drawing/2014/main" id="{37E42747-6BBF-418E-E438-6646CB678952}"/>
              </a:ext>
            </a:extLst>
          </p:cNvPr>
          <p:cNvSpPr>
            <a:spLocks noGrp="1"/>
          </p:cNvSpPr>
          <p:nvPr>
            <p:ph idx="1"/>
          </p:nvPr>
        </p:nvSpPr>
        <p:spPr/>
        <p:txBody>
          <a:bodyPr/>
          <a:lstStyle/>
          <a:p>
            <a:r>
              <a:rPr lang="en-US" dirty="0" err="1"/>
              <a:t>DeepWaterSeg</a:t>
            </a:r>
            <a:r>
              <a:rPr lang="en-US" dirty="0"/>
              <a:t> employs a hybrid ResNet50-U-Net model for semantic segmentation. ResNet50 functions as the encoder, capturing hierarchical spatial-semantic features, while the U-Net decoder reconstructs detailed segmentation maps through </a:t>
            </a:r>
            <a:r>
              <a:rPr lang="en-US" dirty="0" err="1"/>
              <a:t>upsampling</a:t>
            </a:r>
            <a:r>
              <a:rPr lang="en-US" dirty="0"/>
              <a:t> and skip connections. The model effectively maps complex image features into binary water masks, enabling precise detection of narrow rivers and ponds. Training involves 30 epochs on normalized 256×256 inputs using binary cross-entropy and Dice losses. This architecture balances high accuracy with reduced computational cost and strong generalization.</a:t>
            </a:r>
          </a:p>
          <a:p>
            <a:endParaRPr lang="en-IN" dirty="0"/>
          </a:p>
        </p:txBody>
      </p:sp>
    </p:spTree>
    <p:extLst>
      <p:ext uri="{BB962C8B-B14F-4D97-AF65-F5344CB8AC3E}">
        <p14:creationId xmlns:p14="http://schemas.microsoft.com/office/powerpoint/2010/main" val="10486486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15F44-2DB2-3DE6-8A99-319D83291A6F}"/>
              </a:ext>
            </a:extLst>
          </p:cNvPr>
          <p:cNvSpPr>
            <a:spLocks noGrp="1"/>
          </p:cNvSpPr>
          <p:nvPr>
            <p:ph type="title"/>
          </p:nvPr>
        </p:nvSpPr>
        <p:spPr/>
        <p:txBody>
          <a:bodyPr/>
          <a:lstStyle/>
          <a:p>
            <a:r>
              <a:rPr lang="en-IN" dirty="0"/>
              <a:t>Training Configuration</a:t>
            </a:r>
          </a:p>
        </p:txBody>
      </p:sp>
      <p:graphicFrame>
        <p:nvGraphicFramePr>
          <p:cNvPr id="9" name="Content Placeholder 4">
            <a:extLst>
              <a:ext uri="{FF2B5EF4-FFF2-40B4-BE49-F238E27FC236}">
                <a16:creationId xmlns:a16="http://schemas.microsoft.com/office/drawing/2014/main" id="{CD2EBE25-6245-C652-78CB-1D0C08DEE1C7}"/>
              </a:ext>
            </a:extLst>
          </p:cNvPr>
          <p:cNvGraphicFramePr>
            <a:graphicFrameLocks noGrp="1"/>
          </p:cNvGraphicFramePr>
          <p:nvPr>
            <p:ph idx="1"/>
            <p:extLst>
              <p:ext uri="{D42A27DB-BD31-4B8C-83A1-F6EECF244321}">
                <p14:modId xmlns:p14="http://schemas.microsoft.com/office/powerpoint/2010/main" val="944867839"/>
              </p:ext>
            </p:extLst>
          </p:nvPr>
        </p:nvGraphicFramePr>
        <p:xfrm>
          <a:off x="838200" y="1825625"/>
          <a:ext cx="10515600" cy="481584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4128183843"/>
                    </a:ext>
                  </a:extLst>
                </a:gridCol>
                <a:gridCol w="5257800">
                  <a:extLst>
                    <a:ext uri="{9D8B030D-6E8A-4147-A177-3AD203B41FA5}">
                      <a16:colId xmlns:a16="http://schemas.microsoft.com/office/drawing/2014/main" val="531491487"/>
                    </a:ext>
                  </a:extLst>
                </a:gridCol>
              </a:tblGrid>
              <a:tr h="370840">
                <a:tc>
                  <a:txBody>
                    <a:bodyPr/>
                    <a:lstStyle/>
                    <a:p>
                      <a:pPr>
                        <a:buNone/>
                      </a:pPr>
                      <a:r>
                        <a:rPr lang="en-IN" b="1" dirty="0"/>
                        <a:t>Parameter</a:t>
                      </a:r>
                      <a:endParaRPr lang="en-IN" dirty="0"/>
                    </a:p>
                  </a:txBody>
                  <a:tcPr anchor="ctr"/>
                </a:tc>
                <a:tc>
                  <a:txBody>
                    <a:bodyPr/>
                    <a:lstStyle/>
                    <a:p>
                      <a:pPr>
                        <a:buNone/>
                      </a:pPr>
                      <a:r>
                        <a:rPr lang="en-IN" b="1" dirty="0"/>
                        <a:t>Configuration / Description</a:t>
                      </a:r>
                      <a:endParaRPr lang="en-IN" dirty="0"/>
                    </a:p>
                  </a:txBody>
                  <a:tcPr anchor="ctr"/>
                </a:tc>
                <a:extLst>
                  <a:ext uri="{0D108BD9-81ED-4DB2-BD59-A6C34878D82A}">
                    <a16:rowId xmlns:a16="http://schemas.microsoft.com/office/drawing/2014/main" val="1806833197"/>
                  </a:ext>
                </a:extLst>
              </a:tr>
              <a:tr h="370840">
                <a:tc>
                  <a:txBody>
                    <a:bodyPr/>
                    <a:lstStyle/>
                    <a:p>
                      <a:pPr>
                        <a:buNone/>
                      </a:pPr>
                      <a:r>
                        <a:rPr lang="en-IN" b="1" dirty="0"/>
                        <a:t>Input Size</a:t>
                      </a:r>
                      <a:endParaRPr lang="en-IN" dirty="0"/>
                    </a:p>
                  </a:txBody>
                  <a:tcPr anchor="ctr"/>
                </a:tc>
                <a:tc>
                  <a:txBody>
                    <a:bodyPr/>
                    <a:lstStyle/>
                    <a:p>
                      <a:pPr>
                        <a:buNone/>
                      </a:pPr>
                      <a:r>
                        <a:rPr lang="en-IN" dirty="0"/>
                        <a:t>256 × 256 × 3 (RGB images)</a:t>
                      </a:r>
                    </a:p>
                  </a:txBody>
                  <a:tcPr anchor="ctr"/>
                </a:tc>
                <a:extLst>
                  <a:ext uri="{0D108BD9-81ED-4DB2-BD59-A6C34878D82A}">
                    <a16:rowId xmlns:a16="http://schemas.microsoft.com/office/drawing/2014/main" val="752515842"/>
                  </a:ext>
                </a:extLst>
              </a:tr>
              <a:tr h="370840">
                <a:tc>
                  <a:txBody>
                    <a:bodyPr/>
                    <a:lstStyle/>
                    <a:p>
                      <a:pPr>
                        <a:buNone/>
                      </a:pPr>
                      <a:r>
                        <a:rPr lang="en-IN" b="1" dirty="0"/>
                        <a:t>Batch Size</a:t>
                      </a:r>
                      <a:endParaRPr lang="en-IN" dirty="0"/>
                    </a:p>
                  </a:txBody>
                  <a:tcPr anchor="ctr"/>
                </a:tc>
                <a:tc>
                  <a:txBody>
                    <a:bodyPr/>
                    <a:lstStyle/>
                    <a:p>
                      <a:r>
                        <a:rPr lang="en-IN" dirty="0"/>
                        <a:t>8</a:t>
                      </a:r>
                    </a:p>
                  </a:txBody>
                  <a:tcPr/>
                </a:tc>
                <a:extLst>
                  <a:ext uri="{0D108BD9-81ED-4DB2-BD59-A6C34878D82A}">
                    <a16:rowId xmlns:a16="http://schemas.microsoft.com/office/drawing/2014/main" val="2716729459"/>
                  </a:ext>
                </a:extLst>
              </a:tr>
              <a:tr h="370840">
                <a:tc>
                  <a:txBody>
                    <a:bodyPr/>
                    <a:lstStyle/>
                    <a:p>
                      <a:pPr>
                        <a:buNone/>
                      </a:pPr>
                      <a:r>
                        <a:rPr lang="en-IN" dirty="0"/>
                        <a:t>Epochs</a:t>
                      </a:r>
                    </a:p>
                  </a:txBody>
                  <a:tcPr anchor="ctr"/>
                </a:tc>
                <a:tc>
                  <a:txBody>
                    <a:bodyPr/>
                    <a:lstStyle/>
                    <a:p>
                      <a:r>
                        <a:rPr lang="en-IN" dirty="0"/>
                        <a:t>30</a:t>
                      </a:r>
                    </a:p>
                  </a:txBody>
                  <a:tcPr/>
                </a:tc>
                <a:extLst>
                  <a:ext uri="{0D108BD9-81ED-4DB2-BD59-A6C34878D82A}">
                    <a16:rowId xmlns:a16="http://schemas.microsoft.com/office/drawing/2014/main" val="1022064060"/>
                  </a:ext>
                </a:extLst>
              </a:tr>
              <a:tr h="370840">
                <a:tc>
                  <a:txBody>
                    <a:bodyPr/>
                    <a:lstStyle/>
                    <a:p>
                      <a:r>
                        <a:rPr lang="en-IN" dirty="0"/>
                        <a:t>Optimizer</a:t>
                      </a:r>
                    </a:p>
                  </a:txBody>
                  <a:tcPr/>
                </a:tc>
                <a:tc>
                  <a:txBody>
                    <a:bodyPr/>
                    <a:lstStyle/>
                    <a:p>
                      <a:r>
                        <a:rPr lang="en-IN" dirty="0"/>
                        <a:t>Adam</a:t>
                      </a:r>
                    </a:p>
                  </a:txBody>
                  <a:tcPr/>
                </a:tc>
                <a:extLst>
                  <a:ext uri="{0D108BD9-81ED-4DB2-BD59-A6C34878D82A}">
                    <a16:rowId xmlns:a16="http://schemas.microsoft.com/office/drawing/2014/main" val="4141474245"/>
                  </a:ext>
                </a:extLst>
              </a:tr>
              <a:tr h="370840">
                <a:tc>
                  <a:txBody>
                    <a:bodyPr/>
                    <a:lstStyle/>
                    <a:p>
                      <a:pPr>
                        <a:buNone/>
                      </a:pPr>
                      <a:r>
                        <a:rPr lang="en-IN" b="1" dirty="0"/>
                        <a:t>Learning Rate</a:t>
                      </a:r>
                      <a:endParaRPr lang="en-IN" dirty="0"/>
                    </a:p>
                  </a:txBody>
                  <a:tcPr anchor="ctr"/>
                </a:tc>
                <a:tc>
                  <a:txBody>
                    <a:bodyPr/>
                    <a:lstStyle/>
                    <a:p>
                      <a:r>
                        <a:rPr lang="en-IN" dirty="0"/>
                        <a:t>0.0001</a:t>
                      </a:r>
                    </a:p>
                  </a:txBody>
                  <a:tcPr/>
                </a:tc>
                <a:extLst>
                  <a:ext uri="{0D108BD9-81ED-4DB2-BD59-A6C34878D82A}">
                    <a16:rowId xmlns:a16="http://schemas.microsoft.com/office/drawing/2014/main" val="3110646655"/>
                  </a:ext>
                </a:extLst>
              </a:tr>
              <a:tr h="370840">
                <a:tc>
                  <a:txBody>
                    <a:bodyPr/>
                    <a:lstStyle/>
                    <a:p>
                      <a:pPr>
                        <a:buNone/>
                      </a:pPr>
                      <a:r>
                        <a:rPr lang="en-IN" b="1" dirty="0"/>
                        <a:t>Loss Function</a:t>
                      </a:r>
                      <a:endParaRPr lang="en-IN" dirty="0"/>
                    </a:p>
                  </a:txBody>
                  <a:tcPr anchor="ctr"/>
                </a:tc>
                <a:tc>
                  <a:txBody>
                    <a:bodyPr/>
                    <a:lstStyle/>
                    <a:p>
                      <a:pPr>
                        <a:buNone/>
                      </a:pPr>
                      <a:r>
                        <a:rPr lang="en-IN" dirty="0"/>
                        <a:t>Binary Cross-Entropy + Dice Loss</a:t>
                      </a:r>
                    </a:p>
                  </a:txBody>
                  <a:tcPr anchor="ctr"/>
                </a:tc>
                <a:extLst>
                  <a:ext uri="{0D108BD9-81ED-4DB2-BD59-A6C34878D82A}">
                    <a16:rowId xmlns:a16="http://schemas.microsoft.com/office/drawing/2014/main" val="3138452391"/>
                  </a:ext>
                </a:extLst>
              </a:tr>
              <a:tr h="370840">
                <a:tc>
                  <a:txBody>
                    <a:bodyPr/>
                    <a:lstStyle/>
                    <a:p>
                      <a:pPr>
                        <a:buNone/>
                      </a:pPr>
                      <a:r>
                        <a:rPr lang="en-IN" b="1" dirty="0"/>
                        <a:t>Activation Functions</a:t>
                      </a:r>
                      <a:endParaRPr lang="en-IN" dirty="0"/>
                    </a:p>
                  </a:txBody>
                  <a:tcPr anchor="ctr"/>
                </a:tc>
                <a:tc>
                  <a:txBody>
                    <a:bodyPr/>
                    <a:lstStyle/>
                    <a:p>
                      <a:pPr>
                        <a:buNone/>
                      </a:pPr>
                      <a:r>
                        <a:rPr lang="en-US" dirty="0" err="1"/>
                        <a:t>ReLU</a:t>
                      </a:r>
                      <a:r>
                        <a:rPr lang="en-US" dirty="0"/>
                        <a:t> (hidden layers), Sigmoid (output layer)</a:t>
                      </a:r>
                    </a:p>
                  </a:txBody>
                  <a:tcPr anchor="ctr"/>
                </a:tc>
                <a:extLst>
                  <a:ext uri="{0D108BD9-81ED-4DB2-BD59-A6C34878D82A}">
                    <a16:rowId xmlns:a16="http://schemas.microsoft.com/office/drawing/2014/main" val="1509257123"/>
                  </a:ext>
                </a:extLst>
              </a:tr>
              <a:tr h="370840">
                <a:tc>
                  <a:txBody>
                    <a:bodyPr/>
                    <a:lstStyle/>
                    <a:p>
                      <a:pPr>
                        <a:buNone/>
                      </a:pPr>
                      <a:r>
                        <a:rPr lang="en-IN" b="1" dirty="0"/>
                        <a:t>Validation Split</a:t>
                      </a:r>
                      <a:endParaRPr lang="en-IN" dirty="0"/>
                    </a:p>
                  </a:txBody>
                  <a:tcPr anchor="ctr"/>
                </a:tc>
                <a:tc>
                  <a:txBody>
                    <a:bodyPr/>
                    <a:lstStyle/>
                    <a:p>
                      <a:pPr>
                        <a:buNone/>
                      </a:pPr>
                      <a:r>
                        <a:rPr lang="en-IN" dirty="0"/>
                        <a:t>0.2 (20% for validation)</a:t>
                      </a:r>
                    </a:p>
                  </a:txBody>
                  <a:tcPr anchor="ctr"/>
                </a:tc>
                <a:extLst>
                  <a:ext uri="{0D108BD9-81ED-4DB2-BD59-A6C34878D82A}">
                    <a16:rowId xmlns:a16="http://schemas.microsoft.com/office/drawing/2014/main" val="3244067326"/>
                  </a:ext>
                </a:extLst>
              </a:tr>
              <a:tr h="370840">
                <a:tc>
                  <a:txBody>
                    <a:bodyPr/>
                    <a:lstStyle/>
                    <a:p>
                      <a:r>
                        <a:rPr lang="en-IN" dirty="0"/>
                        <a:t>Regularization</a:t>
                      </a:r>
                    </a:p>
                  </a:txBody>
                  <a:tcPr/>
                </a:tc>
                <a:tc>
                  <a:txBody>
                    <a:bodyPr/>
                    <a:lstStyle/>
                    <a:p>
                      <a:pPr>
                        <a:buNone/>
                      </a:pPr>
                      <a:r>
                        <a:rPr lang="en-IN" dirty="0"/>
                        <a:t>Applied to prevent overfitting</a:t>
                      </a:r>
                    </a:p>
                  </a:txBody>
                  <a:tcPr anchor="ctr"/>
                </a:tc>
                <a:extLst>
                  <a:ext uri="{0D108BD9-81ED-4DB2-BD59-A6C34878D82A}">
                    <a16:rowId xmlns:a16="http://schemas.microsoft.com/office/drawing/2014/main" val="2844561081"/>
                  </a:ext>
                </a:extLst>
              </a:tr>
              <a:tr h="370840">
                <a:tc>
                  <a:txBody>
                    <a:bodyPr/>
                    <a:lstStyle/>
                    <a:p>
                      <a:pPr>
                        <a:buNone/>
                      </a:pPr>
                      <a:r>
                        <a:rPr lang="en-IN" b="1" dirty="0"/>
                        <a:t>Normalization</a:t>
                      </a:r>
                      <a:endParaRPr lang="en-IN" dirty="0"/>
                    </a:p>
                  </a:txBody>
                  <a:tcPr anchor="ctr"/>
                </a:tc>
                <a:tc>
                  <a:txBody>
                    <a:bodyPr/>
                    <a:lstStyle/>
                    <a:p>
                      <a:pPr>
                        <a:buNone/>
                      </a:pPr>
                      <a:r>
                        <a:rPr lang="en-IN" dirty="0"/>
                        <a:t>Ensured consistent feature scaling</a:t>
                      </a:r>
                    </a:p>
                  </a:txBody>
                  <a:tcPr anchor="ctr"/>
                </a:tc>
                <a:extLst>
                  <a:ext uri="{0D108BD9-81ED-4DB2-BD59-A6C34878D82A}">
                    <a16:rowId xmlns:a16="http://schemas.microsoft.com/office/drawing/2014/main" val="3564522606"/>
                  </a:ext>
                </a:extLst>
              </a:tr>
              <a:tr h="0">
                <a:tc>
                  <a:txBody>
                    <a:bodyPr/>
                    <a:lstStyle/>
                    <a:p>
                      <a:endParaRPr lang="en-IN" dirty="0"/>
                    </a:p>
                  </a:txBody>
                  <a:tcPr/>
                </a:tc>
                <a:tc>
                  <a:txBody>
                    <a:bodyPr/>
                    <a:lstStyle/>
                    <a:p>
                      <a:endParaRPr lang="en-IN"/>
                    </a:p>
                  </a:txBody>
                  <a:tcPr/>
                </a:tc>
                <a:extLst>
                  <a:ext uri="{0D108BD9-81ED-4DB2-BD59-A6C34878D82A}">
                    <a16:rowId xmlns:a16="http://schemas.microsoft.com/office/drawing/2014/main" val="575716706"/>
                  </a:ext>
                </a:extLst>
              </a:tr>
              <a:tr h="370840">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86103695"/>
                  </a:ext>
                </a:extLst>
              </a:tr>
            </a:tbl>
          </a:graphicData>
        </a:graphic>
      </p:graphicFrame>
    </p:spTree>
    <p:extLst>
      <p:ext uri="{BB962C8B-B14F-4D97-AF65-F5344CB8AC3E}">
        <p14:creationId xmlns:p14="http://schemas.microsoft.com/office/powerpoint/2010/main" val="3189515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1EB24-6115-C3AE-0855-6878F826A686}"/>
              </a:ext>
            </a:extLst>
          </p:cNvPr>
          <p:cNvSpPr>
            <a:spLocks noGrp="1"/>
          </p:cNvSpPr>
          <p:nvPr>
            <p:ph type="title"/>
          </p:nvPr>
        </p:nvSpPr>
        <p:spPr/>
        <p:txBody>
          <a:bodyPr/>
          <a:lstStyle/>
          <a:p>
            <a:r>
              <a:rPr lang="en-IN" dirty="0"/>
              <a:t>			Results and Evolution </a:t>
            </a:r>
          </a:p>
        </p:txBody>
      </p:sp>
      <p:graphicFrame>
        <p:nvGraphicFramePr>
          <p:cNvPr id="5" name="Content Placeholder 4">
            <a:extLst>
              <a:ext uri="{FF2B5EF4-FFF2-40B4-BE49-F238E27FC236}">
                <a16:creationId xmlns:a16="http://schemas.microsoft.com/office/drawing/2014/main" id="{C1CFF69C-4535-7E9C-1968-604703FAB4C3}"/>
              </a:ext>
            </a:extLst>
          </p:cNvPr>
          <p:cNvGraphicFramePr>
            <a:graphicFrameLocks noGrp="1"/>
          </p:cNvGraphicFramePr>
          <p:nvPr>
            <p:ph sz="half" idx="1"/>
            <p:extLst>
              <p:ext uri="{D42A27DB-BD31-4B8C-83A1-F6EECF244321}">
                <p14:modId xmlns:p14="http://schemas.microsoft.com/office/powerpoint/2010/main" val="639002676"/>
              </p:ext>
            </p:extLst>
          </p:nvPr>
        </p:nvGraphicFramePr>
        <p:xfrm>
          <a:off x="838200" y="2304661"/>
          <a:ext cx="5181600" cy="3051113"/>
        </p:xfrm>
        <a:graphic>
          <a:graphicData uri="http://schemas.openxmlformats.org/drawingml/2006/table">
            <a:tbl>
              <a:tblPr firstRow="1" bandRow="1">
                <a:tableStyleId>{5C22544A-7EE6-4342-B048-85BDC9FD1C3A}</a:tableStyleId>
              </a:tblPr>
              <a:tblGrid>
                <a:gridCol w="2590800">
                  <a:extLst>
                    <a:ext uri="{9D8B030D-6E8A-4147-A177-3AD203B41FA5}">
                      <a16:colId xmlns:a16="http://schemas.microsoft.com/office/drawing/2014/main" val="2547927755"/>
                    </a:ext>
                  </a:extLst>
                </a:gridCol>
                <a:gridCol w="2590800">
                  <a:extLst>
                    <a:ext uri="{9D8B030D-6E8A-4147-A177-3AD203B41FA5}">
                      <a16:colId xmlns:a16="http://schemas.microsoft.com/office/drawing/2014/main" val="3340334479"/>
                    </a:ext>
                  </a:extLst>
                </a:gridCol>
              </a:tblGrid>
              <a:tr h="534548">
                <a:tc>
                  <a:txBody>
                    <a:bodyPr/>
                    <a:lstStyle/>
                    <a:p>
                      <a:r>
                        <a:rPr lang="en-IN" dirty="0"/>
                        <a:t>Metric</a:t>
                      </a:r>
                    </a:p>
                  </a:txBody>
                  <a:tcPr/>
                </a:tc>
                <a:tc>
                  <a:txBody>
                    <a:bodyPr/>
                    <a:lstStyle/>
                    <a:p>
                      <a:r>
                        <a:rPr lang="en-IN" dirty="0"/>
                        <a:t>Result</a:t>
                      </a:r>
                    </a:p>
                  </a:txBody>
                  <a:tcPr/>
                </a:tc>
                <a:extLst>
                  <a:ext uri="{0D108BD9-81ED-4DB2-BD59-A6C34878D82A}">
                    <a16:rowId xmlns:a16="http://schemas.microsoft.com/office/drawing/2014/main" val="1967463305"/>
                  </a:ext>
                </a:extLst>
              </a:tr>
              <a:tr h="439496">
                <a:tc>
                  <a:txBody>
                    <a:bodyPr/>
                    <a:lstStyle/>
                    <a:p>
                      <a:pPr>
                        <a:buNone/>
                      </a:pPr>
                      <a:r>
                        <a:rPr lang="en-IN" b="1" dirty="0"/>
                        <a:t>Precision</a:t>
                      </a:r>
                      <a:endParaRPr lang="en-IN" dirty="0"/>
                    </a:p>
                  </a:txBody>
                  <a:tcPr anchor="ctr"/>
                </a:tc>
                <a:tc>
                  <a:txBody>
                    <a:bodyPr/>
                    <a:lstStyle/>
                    <a:p>
                      <a:r>
                        <a:rPr lang="en-IN" dirty="0"/>
                        <a:t>96%</a:t>
                      </a:r>
                    </a:p>
                  </a:txBody>
                  <a:tcPr/>
                </a:tc>
                <a:extLst>
                  <a:ext uri="{0D108BD9-81ED-4DB2-BD59-A6C34878D82A}">
                    <a16:rowId xmlns:a16="http://schemas.microsoft.com/office/drawing/2014/main" val="4286725276"/>
                  </a:ext>
                </a:extLst>
              </a:tr>
              <a:tr h="439496">
                <a:tc>
                  <a:txBody>
                    <a:bodyPr/>
                    <a:lstStyle/>
                    <a:p>
                      <a:pPr>
                        <a:buNone/>
                      </a:pPr>
                      <a:r>
                        <a:rPr lang="en-IN" b="1" dirty="0"/>
                        <a:t>Accuracy</a:t>
                      </a:r>
                      <a:endParaRPr lang="en-IN" dirty="0"/>
                    </a:p>
                  </a:txBody>
                  <a:tcPr anchor="ctr"/>
                </a:tc>
                <a:tc>
                  <a:txBody>
                    <a:bodyPr/>
                    <a:lstStyle/>
                    <a:p>
                      <a:r>
                        <a:rPr lang="en-IN" dirty="0"/>
                        <a:t>92%</a:t>
                      </a:r>
                    </a:p>
                  </a:txBody>
                  <a:tcPr/>
                </a:tc>
                <a:extLst>
                  <a:ext uri="{0D108BD9-81ED-4DB2-BD59-A6C34878D82A}">
                    <a16:rowId xmlns:a16="http://schemas.microsoft.com/office/drawing/2014/main" val="3365904254"/>
                  </a:ext>
                </a:extLst>
              </a:tr>
              <a:tr h="439496">
                <a:tc>
                  <a:txBody>
                    <a:bodyPr/>
                    <a:lstStyle/>
                    <a:p>
                      <a:pPr>
                        <a:buNone/>
                      </a:pPr>
                      <a:r>
                        <a:rPr lang="en-IN" b="1" dirty="0"/>
                        <a:t>Dice Coefficient</a:t>
                      </a:r>
                      <a:endParaRPr lang="en-IN" dirty="0"/>
                    </a:p>
                  </a:txBody>
                  <a:tcPr anchor="ctr"/>
                </a:tc>
                <a:tc>
                  <a:txBody>
                    <a:bodyPr/>
                    <a:lstStyle/>
                    <a:p>
                      <a:r>
                        <a:rPr lang="en-IN" dirty="0"/>
                        <a:t>91%</a:t>
                      </a:r>
                    </a:p>
                  </a:txBody>
                  <a:tcPr/>
                </a:tc>
                <a:extLst>
                  <a:ext uri="{0D108BD9-81ED-4DB2-BD59-A6C34878D82A}">
                    <a16:rowId xmlns:a16="http://schemas.microsoft.com/office/drawing/2014/main" val="1166337279"/>
                  </a:ext>
                </a:extLst>
              </a:tr>
              <a:tr h="758581">
                <a:tc>
                  <a:txBody>
                    <a:bodyPr/>
                    <a:lstStyle/>
                    <a:p>
                      <a:pPr>
                        <a:buNone/>
                      </a:pPr>
                      <a:r>
                        <a:rPr lang="en-IN" b="1" dirty="0"/>
                        <a:t>Intersection over Union (</a:t>
                      </a:r>
                      <a:r>
                        <a:rPr lang="en-IN" b="1" dirty="0" err="1"/>
                        <a:t>IoU</a:t>
                      </a:r>
                      <a:r>
                        <a:rPr lang="en-IN" b="1" dirty="0"/>
                        <a:t>)</a:t>
                      </a:r>
                      <a:endParaRPr lang="en-IN" dirty="0"/>
                    </a:p>
                  </a:txBody>
                  <a:tcPr anchor="ctr"/>
                </a:tc>
                <a:tc>
                  <a:txBody>
                    <a:bodyPr/>
                    <a:lstStyle/>
                    <a:p>
                      <a:r>
                        <a:rPr lang="en-IN" dirty="0"/>
                        <a:t>90%</a:t>
                      </a:r>
                    </a:p>
                  </a:txBody>
                  <a:tcPr/>
                </a:tc>
                <a:extLst>
                  <a:ext uri="{0D108BD9-81ED-4DB2-BD59-A6C34878D82A}">
                    <a16:rowId xmlns:a16="http://schemas.microsoft.com/office/drawing/2014/main" val="3009791370"/>
                  </a:ext>
                </a:extLst>
              </a:tr>
              <a:tr h="439496">
                <a:tc>
                  <a:txBody>
                    <a:bodyPr/>
                    <a:lstStyle/>
                    <a:p>
                      <a:r>
                        <a:rPr lang="en-IN" dirty="0"/>
                        <a:t>Loss</a:t>
                      </a:r>
                    </a:p>
                  </a:txBody>
                  <a:tcPr/>
                </a:tc>
                <a:tc>
                  <a:txBody>
                    <a:bodyPr/>
                    <a:lstStyle/>
                    <a:p>
                      <a:r>
                        <a:rPr lang="en-IN" dirty="0"/>
                        <a:t>6%</a:t>
                      </a:r>
                    </a:p>
                  </a:txBody>
                  <a:tcPr/>
                </a:tc>
                <a:extLst>
                  <a:ext uri="{0D108BD9-81ED-4DB2-BD59-A6C34878D82A}">
                    <a16:rowId xmlns:a16="http://schemas.microsoft.com/office/drawing/2014/main" val="1409080846"/>
                  </a:ext>
                </a:extLst>
              </a:tr>
            </a:tbl>
          </a:graphicData>
        </a:graphic>
      </p:graphicFrame>
      <p:pic>
        <p:nvPicPr>
          <p:cNvPr id="7" name="Content Placeholder 6">
            <a:extLst>
              <a:ext uri="{FF2B5EF4-FFF2-40B4-BE49-F238E27FC236}">
                <a16:creationId xmlns:a16="http://schemas.microsoft.com/office/drawing/2014/main" id="{B7ADD448-97B3-B33D-A8DA-66DD21CFB987}"/>
              </a:ext>
            </a:extLst>
          </p:cNvPr>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6172200" y="2406042"/>
            <a:ext cx="5181600" cy="3190504"/>
          </a:xfrm>
        </p:spPr>
      </p:pic>
    </p:spTree>
    <p:extLst>
      <p:ext uri="{BB962C8B-B14F-4D97-AF65-F5344CB8AC3E}">
        <p14:creationId xmlns:p14="http://schemas.microsoft.com/office/powerpoint/2010/main" val="11382047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AF132-F3F8-8B2D-1920-B5EA7209E1A1}"/>
              </a:ext>
            </a:extLst>
          </p:cNvPr>
          <p:cNvSpPr>
            <a:spLocks noGrp="1"/>
          </p:cNvSpPr>
          <p:nvPr>
            <p:ph type="title"/>
          </p:nvPr>
        </p:nvSpPr>
        <p:spPr/>
        <p:txBody>
          <a:bodyPr/>
          <a:lstStyle/>
          <a:p>
            <a:r>
              <a:rPr lang="en-IN" dirty="0"/>
              <a:t>Comparison with Other Works</a:t>
            </a:r>
          </a:p>
        </p:txBody>
      </p:sp>
      <p:sp>
        <p:nvSpPr>
          <p:cNvPr id="3" name="Content Placeholder 2">
            <a:extLst>
              <a:ext uri="{FF2B5EF4-FFF2-40B4-BE49-F238E27FC236}">
                <a16:creationId xmlns:a16="http://schemas.microsoft.com/office/drawing/2014/main" id="{A39908D7-5FCD-74E6-AAD4-0AD2864C82A5}"/>
              </a:ext>
            </a:extLst>
          </p:cNvPr>
          <p:cNvSpPr>
            <a:spLocks noGrp="1"/>
          </p:cNvSpPr>
          <p:nvPr>
            <p:ph idx="1"/>
          </p:nvPr>
        </p:nvSpPr>
        <p:spPr/>
        <p:txBody>
          <a:bodyPr>
            <a:normAutofit lnSpcReduction="10000"/>
          </a:bodyPr>
          <a:lstStyle/>
          <a:p>
            <a:r>
              <a:rPr lang="en-US" b="1" dirty="0" err="1"/>
              <a:t>DeepWaterSeg</a:t>
            </a:r>
            <a:r>
              <a:rPr lang="en-US" dirty="0"/>
              <a:t> outperforms or matches models like </a:t>
            </a:r>
            <a:r>
              <a:rPr lang="en-US" b="1" dirty="0"/>
              <a:t>DMLU-Net</a:t>
            </a:r>
            <a:r>
              <a:rPr lang="en-US" dirty="0"/>
              <a:t>, </a:t>
            </a:r>
            <a:r>
              <a:rPr lang="en-US" b="1" dirty="0" err="1"/>
              <a:t>SDNet</a:t>
            </a:r>
            <a:r>
              <a:rPr lang="en-US" dirty="0"/>
              <a:t>, and </a:t>
            </a:r>
            <a:r>
              <a:rPr lang="en-US" b="1" dirty="0"/>
              <a:t>AER U-Net</a:t>
            </a:r>
            <a:r>
              <a:rPr lang="en-US" dirty="0"/>
              <a:t> while maintaining lower computational complexity.</a:t>
            </a:r>
          </a:p>
          <a:p>
            <a:r>
              <a:rPr lang="en-US" dirty="0"/>
              <a:t>Unlike prior models that rely on </a:t>
            </a:r>
            <a:r>
              <a:rPr lang="en-US" b="1" dirty="0"/>
              <a:t>heavy architectures</a:t>
            </a:r>
            <a:r>
              <a:rPr lang="en-US" dirty="0"/>
              <a:t> or </a:t>
            </a:r>
            <a:r>
              <a:rPr lang="en-US" b="1" dirty="0"/>
              <a:t>terrain-specific datasets</a:t>
            </a:r>
            <a:r>
              <a:rPr lang="en-US" dirty="0"/>
              <a:t>, it generalizes effectively across diverse satellite imagery.</a:t>
            </a:r>
          </a:p>
          <a:p>
            <a:r>
              <a:rPr lang="en-US" dirty="0"/>
              <a:t>Achieves </a:t>
            </a:r>
            <a:r>
              <a:rPr lang="en-US" b="1" dirty="0"/>
              <a:t>96% precision</a:t>
            </a:r>
            <a:r>
              <a:rPr lang="en-US" dirty="0"/>
              <a:t>, surpassing the </a:t>
            </a:r>
            <a:r>
              <a:rPr lang="en-US" b="1" dirty="0"/>
              <a:t>~91% average</a:t>
            </a:r>
            <a:r>
              <a:rPr lang="en-US" dirty="0"/>
              <a:t> of previous approaches, without using attention mechanisms.</a:t>
            </a:r>
          </a:p>
          <a:p>
            <a:r>
              <a:rPr lang="en-US" dirty="0"/>
              <a:t>Demonstrates strong </a:t>
            </a:r>
            <a:r>
              <a:rPr lang="en-US" b="1" dirty="0"/>
              <a:t>adaptability</a:t>
            </a:r>
            <a:r>
              <a:rPr lang="en-US" dirty="0"/>
              <a:t> to rivers, ponds, and lakes in both </a:t>
            </a:r>
            <a:r>
              <a:rPr lang="en-US" b="1" dirty="0"/>
              <a:t>rural and urban areas</a:t>
            </a:r>
            <a:r>
              <a:rPr lang="en-US" dirty="0"/>
              <a:t>, proving its real-world applicability for remote sensing.</a:t>
            </a:r>
          </a:p>
          <a:p>
            <a:pPr marL="0" indent="0">
              <a:buNone/>
            </a:pPr>
            <a:endParaRPr lang="en-IN" dirty="0"/>
          </a:p>
        </p:txBody>
      </p:sp>
    </p:spTree>
    <p:extLst>
      <p:ext uri="{BB962C8B-B14F-4D97-AF65-F5344CB8AC3E}">
        <p14:creationId xmlns:p14="http://schemas.microsoft.com/office/powerpoint/2010/main" val="27285597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3FC86-52D6-1775-CB40-37B9659E2585}"/>
              </a:ext>
            </a:extLst>
          </p:cNvPr>
          <p:cNvSpPr>
            <a:spLocks noGrp="1"/>
          </p:cNvSpPr>
          <p:nvPr>
            <p:ph type="title"/>
          </p:nvPr>
        </p:nvSpPr>
        <p:spPr/>
        <p:txBody>
          <a:bodyPr/>
          <a:lstStyle/>
          <a:p>
            <a:r>
              <a:rPr lang="en-IN" b="1" dirty="0"/>
              <a:t>Applications, Impact &amp; Conclusion</a:t>
            </a:r>
            <a:endParaRPr lang="en-IN" dirty="0"/>
          </a:p>
        </p:txBody>
      </p:sp>
      <p:sp>
        <p:nvSpPr>
          <p:cNvPr id="3" name="Content Placeholder 2">
            <a:extLst>
              <a:ext uri="{FF2B5EF4-FFF2-40B4-BE49-F238E27FC236}">
                <a16:creationId xmlns:a16="http://schemas.microsoft.com/office/drawing/2014/main" id="{FBBD953F-C09A-26A8-8265-07FE89FE2149}"/>
              </a:ext>
            </a:extLst>
          </p:cNvPr>
          <p:cNvSpPr>
            <a:spLocks noGrp="1"/>
          </p:cNvSpPr>
          <p:nvPr>
            <p:ph idx="1"/>
          </p:nvPr>
        </p:nvSpPr>
        <p:spPr/>
        <p:txBody>
          <a:bodyPr/>
          <a:lstStyle/>
          <a:p>
            <a:r>
              <a:rPr lang="en-US" dirty="0" err="1"/>
              <a:t>DeepWaterSeg</a:t>
            </a:r>
            <a:r>
              <a:rPr lang="en-US" dirty="0"/>
              <a:t> advances automated water-body mapping using high-resolution imagery and deep learning. It supports faster flood response, efficient freshwater management, and sustainable resource planning. The model’s scalability aids national water monitoring systems and environmental conservation. By integrating AI into remote sensing, it contributes to UN Sustainable Development Goals, promoting ecological accountability and informed decision-making. In conclusion, the ResNet50-U-Net model provides an accurate, efficient, and impactful tool for global water-body detection and environmental sustainability.</a:t>
            </a:r>
            <a:endParaRPr lang="en-IN" dirty="0"/>
          </a:p>
        </p:txBody>
      </p:sp>
    </p:spTree>
    <p:extLst>
      <p:ext uri="{BB962C8B-B14F-4D97-AF65-F5344CB8AC3E}">
        <p14:creationId xmlns:p14="http://schemas.microsoft.com/office/powerpoint/2010/main" val="25565508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B206C11-47F3-69A4-B2AC-AE454587CC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0"/>
            <a:ext cx="9144000" cy="6858000"/>
          </a:xfrm>
          <a:prstGeom prst="rect">
            <a:avLst/>
          </a:prstGeom>
        </p:spPr>
      </p:pic>
    </p:spTree>
    <p:extLst>
      <p:ext uri="{BB962C8B-B14F-4D97-AF65-F5344CB8AC3E}">
        <p14:creationId xmlns:p14="http://schemas.microsoft.com/office/powerpoint/2010/main" val="30331093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TotalTime>
  <Words>1031</Words>
  <Application>Microsoft Office PowerPoint</Application>
  <PresentationFormat>Widescreen</PresentationFormat>
  <Paragraphs>91</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Calibri Light</vt:lpstr>
      <vt:lpstr>Office Theme</vt:lpstr>
      <vt:lpstr>2025 6th  GLOBAL CONFERENCE FOR ADVANCEMENT IN TECHNOLOGY (GCAT 2025)</vt:lpstr>
      <vt:lpstr>INDEX </vt:lpstr>
      <vt:lpstr>Abstract &amp; Objective</vt:lpstr>
      <vt:lpstr>Introduction</vt:lpstr>
      <vt:lpstr>Problem statement and motivation</vt:lpstr>
      <vt:lpstr>Literature Review</vt:lpstr>
      <vt:lpstr>             Dataset                       Preprocessing</vt:lpstr>
      <vt:lpstr>Proposed Methodology</vt:lpstr>
      <vt:lpstr>Training Configuration</vt:lpstr>
      <vt:lpstr>   Results and Evolution </vt:lpstr>
      <vt:lpstr>Comparison with Other Works</vt:lpstr>
      <vt:lpstr>Applications, Impact &amp; 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Anjaneya Kumar</cp:lastModifiedBy>
  <cp:revision>11</cp:revision>
  <dcterms:created xsi:type="dcterms:W3CDTF">2021-06-10T05:32:34Z</dcterms:created>
  <dcterms:modified xsi:type="dcterms:W3CDTF">2026-04-04T10:39:01Z</dcterms:modified>
</cp:coreProperties>
</file>